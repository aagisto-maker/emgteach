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Empecemos en la consulta. Nos llega una paciente joven cuyo motivo de consulta parece sutil pero es revelador: 'por la tarde se me caen los párpados y veo doble; por la mañana amanezco bien'. Esta fatigabilidad fluctuante nos sitúa en una encrucijada fisiopatológica clásica: ¿está fallando la conducción axonal, la maquinaria contráctil de la fibra muscular o el sistema de acoplamiento químico intermedio? A lo largo de esta sesión desgranaremos la arquitectura de la neurotransmisión sináptica para descubrir con precisión quirúrgica qué componente molecular de esta paciente ha dejado de funcionar.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entender la patología sináptica, primero debemos diferenciar las dos infraestructuras de comunicación del sistema nervioso. La sinapsis eléctrica es un puente puramente mecánico: canales de conexinas que unen citoplasmas directamente; no hay mensajeros, solo sincronización inmediata en bloque. En cambio, la sinapsis química paga un peaje de tiempo —el retardo sináptico de casi un milisegundo— a cambio de versatilidad: amplifica la señal, permite divergencia computacional y, lo más importante para la medicina, es plástica y modificable mediante fármacos.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transmisión química no es un evento estático, sino una cadena de montaje en 5 fases continuas. Fíjense en el paso 2: llenar una vesícula requiere energía activa generada por bombas de protones para que transportadores como VMAT o VAChT metan el transmisor contra gradiente. En el paso 3, el calcio actúa como el gatillo indispensable. Y en el paso 5, la señal debe apagarse de inmediato; si el transmisor se queda flotando en la hendidura, la neurona postsináptica se satura o se desensibiliza. Intervenir en cualquiera de estas cinco fases es el fundamento de la neurofarmacología moderna.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dos membranas celulares tienen cargas negativas y se repelen con fuerza. Para fusionarlas hace falta una auténtica prensa mecánica: el complejo SNARE. Sinaptobrevina en la vesícula se enrolla en espiral con SNAP-25 y Sintaxina en la membrana presináptica, tensando la cuerda como una cremallera. Sinaptotagmina actúa de freno de seguridad hasta que detecta el calcio entrante y lo libera. Las toxinas de Clostridium son tijeras moleculares específicas contra este complejo: Botulino corta a nivel periférico causando parálisis flácida; Tétanos viaja retrógradamente por el axón hasta las interneuronas inhibitorias medulares, silenciando el freno gabaérgico y desatando espasmos incontrolables.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vez en la hendidura, el mensaje adquiere significado según el receptor que lo reciba. Los ionotrópicos son interruptores directos: se une la molécula, el canal se abre y fluyen iones en cuestión de milisegundos; controlan la neurotransmisión rápida punto a punto. Los metabotrópicos son computadoras celulares: reclutan proteínas G y cascadas bioquímicas complejas. No solo modifican el potencial de membrana, sino que fosforilan dianas y alteran la expresión génica. Noten además los receptores presinápticos: el autorreceptor es el termostato de la neurona para evitar la hiperestimulación apagando la exocitosis.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miramos el cerebro a escala de circuito, conviven dos filosofías de cableado. Los sistemas focales de glutamato y GABA son como una red telefónica: cada conexión lleva un mensaje concreto a un destinatario concreto, con precisión milimétrica y en milisegundos. Los sistemas difusos son, en cambio, como una emisora de radio: unos pocos núcleos del tronco del encéfalo y del prosencéfalo basal envían axones que se ramifican por toda la corteza y liberan monoaminas o acetilcolina desde varicosidades, actuando sobre receptores metabotrópicos. No transmiten el contenido del mensaje, sino que ajustan el volumen y el estado del sistema: vigilia, atención, ánimo o motivación. Por eso la mayoría de los psicofármacos actúan precisamente sobre estos sistemas.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Volvamos a nuestra paciente. El nervio conduce bien y el músculo es capaz de contraerse: lo que falla es la interfaz. Sus anticuerpos atacan el receptor nicotínico de la placa motora, de modo que cada molécula de acetilcolina encuentra menos receptores disponibles. En reposo todavía hay margen, pero con el uso repetido la liberación de acetilcolina por impulso disminuye fisiológicamente y el potencial de placa cae por debajo del umbral: aparece la fatiga. Los músculos oculares, con menor factor de seguridad, son los primeros en claudicar. La estimulación nerviosa repetitiva a 3 Hz muestra el decremento característico, y el tratamiento sintomático consiste precisamente en intervenir la fase 5 del ciclo sináptico: inhibir la acetilcolinesterasa para que la acetilcolina permanezca más tiempo en la hendidura.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integrando todo lo visto. Cada fase del ciclo sináptico tiene su enfermedad. En la miastenia gravis la presinapsis libera acetilcolina con normalidad, pero el receptor está mermado: decremento a baja frecuencia. En el síndrome de Lambert-Eaton el problema es la entrada de calcio en la terminal: se libera poca acetilcolina por impulso, pero la estimulación de alta frecuencia acumula calcio y facilita la liberación, de ahí el incremento. En el botulismo la toxina corta la maquinaria SNARE y la exocitosis se bloquea. El electromiograma con estimulación repetitiva nos permite, por tanto, localizar el fallo en la sinapsis con una precisión que la clínica sola no alcanza.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0B4D8"/>
                </a:solidFill>
                <a:latin typeface="Calibri"/>
              </a:rPr>
              <a:t>CASO CLÍNICO INICIAL</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La Paciente que se Cansa de Mirar</a:t>
            </a:r>
          </a:p>
        </p:txBody>
      </p:sp>
      <p:sp>
        <p:nvSpPr>
          <p:cNvPr id="4" name="Rectangle 3"/>
          <p:cNvSpPr/>
          <p:nvPr/>
        </p:nvSpPr>
        <p:spPr>
          <a:xfrm>
            <a:off x="548640" y="1536192"/>
            <a:ext cx="12801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3012338" cy="731520"/>
          </a:xfrm>
          <a:prstGeom prst="rect">
            <a:avLst/>
          </a:prstGeom>
          <a:noFill/>
        </p:spPr>
        <p:txBody>
          <a:bodyPr wrap="square" anchor="t" lIns="0" rIns="0" tIns="0" bIns="0">
            <a:spAutoFit/>
          </a:bodyPr>
          <a:lstStyle/>
          <a:p>
            <a:r>
              <a:rPr sz="1800" b="1" lang="es-ES">
                <a:solidFill>
                  <a:srgbClr val="00B4D8"/>
                </a:solidFill>
                <a:latin typeface="Calibri"/>
              </a:rPr>
              <a:t>Presentación de la Paciente</a:t>
            </a:r>
          </a:p>
        </p:txBody>
      </p:sp>
      <p:sp>
        <p:nvSpPr>
          <p:cNvPr id="8" name="TextBox 7"/>
          <p:cNvSpPr txBox="1"/>
          <p:nvPr/>
        </p:nvSpPr>
        <p:spPr>
          <a:xfrm>
            <a:off x="822960" y="2880360"/>
            <a:ext cx="3012338" cy="3200400"/>
          </a:xfrm>
          <a:prstGeom prst="rect">
            <a:avLst/>
          </a:prstGeom>
          <a:noFill/>
        </p:spPr>
        <p:txBody>
          <a:bodyPr wrap="square" lIns="0" rIns="0" tIns="0" bIns="0">
            <a:spAutoFit/>
          </a:bodyPr>
          <a:lstStyle/>
          <a:p>
            <a:pPr>
              <a:lnSpc>
                <a:spcPct val="108000"/>
              </a:lnSpc>
              <a:spcAft>
                <a:spcPts val="1200"/>
              </a:spcAft>
            </a:pPr>
            <a:r>
              <a:rPr sz="1600" b="1" lang="es-ES">
                <a:solidFill>
                  <a:srgbClr val="F0F4F8"/>
                </a:solidFill>
                <a:latin typeface="Calibri"/>
              </a:rPr>
              <a:t>Perfil: </a:t>
            </a:r>
            <a:r>
              <a:rPr sz="1600" b="0" lang="es-ES">
                <a:solidFill>
                  <a:srgbClr val="AABED7"/>
                </a:solidFill>
                <a:latin typeface="Calibri"/>
              </a:rPr>
              <a:t>Mujer de 28 años sin antecedentes médicos relevantes.</a:t>
            </a:r>
          </a:p>
          <a:p>
            <a:pPr>
              <a:lnSpc>
                <a:spcPct val="108000"/>
              </a:lnSpc>
              <a:spcAft>
                <a:spcPts val="1200"/>
              </a:spcAft>
            </a:pPr>
            <a:r>
              <a:rPr sz="1600" b="1" lang="es-ES">
                <a:solidFill>
                  <a:srgbClr val="F0F4F8"/>
                </a:solidFill>
                <a:latin typeface="Calibri"/>
              </a:rPr>
              <a:t>Motivo de consulta: </a:t>
            </a:r>
            <a:r>
              <a:rPr sz="1600" b="0" lang="es-ES">
                <a:solidFill>
                  <a:srgbClr val="AABED7"/>
                </a:solidFill>
                <a:latin typeface="Calibri"/>
              </a:rPr>
              <a:t>Debilidad muscular fluctuante y fatigable.</a:t>
            </a:r>
          </a:p>
          <a:p>
            <a:pPr>
              <a:lnSpc>
                <a:spcPct val="108000"/>
              </a:lnSpc>
              <a:spcAft>
                <a:spcPts val="1200"/>
              </a:spcAft>
            </a:pPr>
            <a:r>
              <a:rPr sz="1600" b="1" lang="es-ES">
                <a:solidFill>
                  <a:srgbClr val="F0F4F8"/>
                </a:solidFill>
                <a:latin typeface="Calibri"/>
              </a:rPr>
              <a:t>Patrón temporal: </a:t>
            </a:r>
            <a:r>
              <a:rPr sz="1600" b="0" lang="es-ES">
                <a:solidFill>
                  <a:srgbClr val="AABED7"/>
                </a:solidFill>
                <a:latin typeface="Calibri"/>
              </a:rPr>
              <a:t>Empeora notablemente hacia la tarde y tras el uso repetido; mejora tras el reposo.</a:t>
            </a:r>
          </a:p>
        </p:txBody>
      </p:sp>
      <p:sp>
        <p:nvSpPr>
          <p:cNvPr id="9" name="Rounded Rectangle 8"/>
          <p:cNvSpPr/>
          <p:nvPr/>
        </p:nvSpPr>
        <p:spPr>
          <a:xfrm>
            <a:off x="4338218"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8218" y="1938528"/>
            <a:ext cx="64008" cy="4215384"/>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2538" y="2057400"/>
            <a:ext cx="3012338" cy="731520"/>
          </a:xfrm>
          <a:prstGeom prst="rect">
            <a:avLst/>
          </a:prstGeom>
          <a:noFill/>
        </p:spPr>
        <p:txBody>
          <a:bodyPr wrap="square" anchor="t" lIns="0" rIns="0" tIns="0" bIns="0">
            <a:spAutoFit/>
          </a:bodyPr>
          <a:lstStyle/>
          <a:p>
            <a:r>
              <a:rPr sz="1800" b="1" lang="es-ES">
                <a:solidFill>
                  <a:srgbClr val="F77F00"/>
                </a:solidFill>
                <a:latin typeface="Calibri"/>
              </a:rPr>
              <a:t>Signos Cardinales</a:t>
            </a:r>
          </a:p>
        </p:txBody>
      </p:sp>
      <p:sp>
        <p:nvSpPr>
          <p:cNvPr id="12" name="TextBox 11"/>
          <p:cNvSpPr txBox="1"/>
          <p:nvPr/>
        </p:nvSpPr>
        <p:spPr>
          <a:xfrm>
            <a:off x="4612538" y="2880360"/>
            <a:ext cx="3012338" cy="3200400"/>
          </a:xfrm>
          <a:prstGeom prst="rect">
            <a:avLst/>
          </a:prstGeom>
          <a:noFill/>
        </p:spPr>
        <p:txBody>
          <a:bodyPr wrap="square" lIns="0" rIns="0" tIns="0" bIns="0">
            <a:spAutoFit/>
          </a:bodyPr>
          <a:lstStyle/>
          <a:p>
            <a:pPr>
              <a:lnSpc>
                <a:spcPct val="108000"/>
              </a:lnSpc>
              <a:spcAft>
                <a:spcPts val="1200"/>
              </a:spcAft>
            </a:pPr>
            <a:r>
              <a:rPr sz="1600" b="1" lang="es-ES">
                <a:solidFill>
                  <a:srgbClr val="F0F4F8"/>
                </a:solidFill>
                <a:latin typeface="Calibri"/>
              </a:rPr>
              <a:t>Ptosis palpebral: </a:t>
            </a:r>
            <a:r>
              <a:rPr sz="1600" b="0" lang="es-ES">
                <a:solidFill>
                  <a:srgbClr val="AABED7"/>
                </a:solidFill>
                <a:latin typeface="Calibri"/>
              </a:rPr>
              <a:t>Caída bilateral asimétrica de párpados tras fijar la mirada hacia arriba.</a:t>
            </a:r>
          </a:p>
          <a:p>
            <a:pPr>
              <a:lnSpc>
                <a:spcPct val="108000"/>
              </a:lnSpc>
              <a:spcAft>
                <a:spcPts val="1200"/>
              </a:spcAft>
            </a:pPr>
            <a:r>
              <a:rPr sz="1600" b="1" lang="es-ES">
                <a:solidFill>
                  <a:srgbClr val="F0F4F8"/>
                </a:solidFill>
                <a:latin typeface="Calibri"/>
              </a:rPr>
              <a:t>Diplopía vespertina: </a:t>
            </a:r>
            <a:r>
              <a:rPr sz="1600" b="0" lang="es-ES">
                <a:solidFill>
                  <a:srgbClr val="AABED7"/>
                </a:solidFill>
                <a:latin typeface="Calibri"/>
              </a:rPr>
              <a:t>Visión doble fluctuante que interrumpe actividades cotidianas.</a:t>
            </a:r>
          </a:p>
          <a:p>
            <a:pPr>
              <a:lnSpc>
                <a:spcPct val="108000"/>
              </a:lnSpc>
              <a:spcAft>
                <a:spcPts val="1200"/>
              </a:spcAft>
            </a:pPr>
            <a:r>
              <a:rPr sz="1600" b="1" lang="es-ES">
                <a:solidFill>
                  <a:srgbClr val="F0F4F8"/>
                </a:solidFill>
                <a:latin typeface="Calibri"/>
              </a:rPr>
              <a:t>Sin déficit sensitivo: </a:t>
            </a:r>
            <a:r>
              <a:rPr sz="1600" b="0" lang="es-ES">
                <a:solidFill>
                  <a:srgbClr val="AABED7"/>
                </a:solidFill>
                <a:latin typeface="Calibri"/>
              </a:rPr>
              <a:t>Reflejos osteotendinosos y sensibilidad conservados.</a:t>
            </a:r>
          </a:p>
        </p:txBody>
      </p:sp>
      <p:sp>
        <p:nvSpPr>
          <p:cNvPr id="13" name="Rounded Rectangle 12"/>
          <p:cNvSpPr/>
          <p:nvPr/>
        </p:nvSpPr>
        <p:spPr>
          <a:xfrm>
            <a:off x="8127796"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1938528"/>
            <a:ext cx="64008" cy="421538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2116" y="2057400"/>
            <a:ext cx="3012338" cy="731520"/>
          </a:xfrm>
          <a:prstGeom prst="rect">
            <a:avLst/>
          </a:prstGeom>
          <a:noFill/>
        </p:spPr>
        <p:txBody>
          <a:bodyPr wrap="square" anchor="t" lIns="0" rIns="0" tIns="0" bIns="0">
            <a:spAutoFit/>
          </a:bodyPr>
          <a:lstStyle/>
          <a:p>
            <a:r>
              <a:rPr sz="1800" b="1" lang="es-ES">
                <a:solidFill>
                  <a:srgbClr val="06D6A0"/>
                </a:solidFill>
                <a:latin typeface="Calibri"/>
              </a:rPr>
              <a:t>La Pregunta Central de la Fisiopatología</a:t>
            </a:r>
          </a:p>
        </p:txBody>
      </p:sp>
      <p:sp>
        <p:nvSpPr>
          <p:cNvPr id="16" name="TextBox 15"/>
          <p:cNvSpPr txBox="1"/>
          <p:nvPr/>
        </p:nvSpPr>
        <p:spPr>
          <a:xfrm>
            <a:off x="8402116" y="2880360"/>
            <a:ext cx="3012338" cy="3200400"/>
          </a:xfrm>
          <a:prstGeom prst="rect">
            <a:avLst/>
          </a:prstGeom>
          <a:noFill/>
        </p:spPr>
        <p:txBody>
          <a:bodyPr wrap="square" lIns="0" rIns="0" tIns="0" bIns="0">
            <a:spAutoFit/>
          </a:bodyPr>
          <a:lstStyle/>
          <a:p>
            <a:pPr>
              <a:lnSpc>
                <a:spcPct val="108000"/>
              </a:lnSpc>
              <a:spcAft>
                <a:spcPts val="1200"/>
              </a:spcAft>
            </a:pPr>
            <a:r>
              <a:rPr sz="1600" b="1" lang="es-ES">
                <a:solidFill>
                  <a:srgbClr val="F0F4F8"/>
                </a:solidFill>
                <a:latin typeface="Calibri"/>
              </a:rPr>
              <a:t>¿El cable (nervio)?: </a:t>
            </a:r>
            <a:r>
              <a:rPr sz="1600" b="0" lang="es-ES">
                <a:solidFill>
                  <a:srgbClr val="AABED7"/>
                </a:solidFill>
                <a:latin typeface="Calibri"/>
              </a:rPr>
              <a:t>¿Falla la conducción axonal o la generación del potencial de acción?</a:t>
            </a:r>
          </a:p>
          <a:p>
            <a:pPr>
              <a:lnSpc>
                <a:spcPct val="108000"/>
              </a:lnSpc>
              <a:spcAft>
                <a:spcPts val="1200"/>
              </a:spcAft>
            </a:pPr>
            <a:r>
              <a:rPr sz="1600" b="1" lang="es-ES">
                <a:solidFill>
                  <a:srgbClr val="F0F4F8"/>
                </a:solidFill>
                <a:latin typeface="Calibri"/>
              </a:rPr>
              <a:t>¿El motor (músculo)?: </a:t>
            </a:r>
            <a:r>
              <a:rPr sz="1600" b="0" lang="es-ES">
                <a:solidFill>
                  <a:srgbClr val="AABED7"/>
                </a:solidFill>
                <a:latin typeface="Calibri"/>
              </a:rPr>
              <a:t>¿Falla la maquinaria contráctil de la fibra muscular?</a:t>
            </a:r>
          </a:p>
          <a:p>
            <a:pPr>
              <a:lnSpc>
                <a:spcPct val="108000"/>
              </a:lnSpc>
              <a:spcAft>
                <a:spcPts val="1200"/>
              </a:spcAft>
            </a:pPr>
            <a:r>
              <a:rPr sz="1600" b="1" lang="es-ES">
                <a:solidFill>
                  <a:srgbClr val="F0F4F8"/>
                </a:solidFill>
                <a:latin typeface="Calibri"/>
              </a:rPr>
              <a:t>¿La interfaz (sinapsis)?: </a:t>
            </a:r>
            <a:r>
              <a:rPr sz="1600" b="0" lang="es-ES">
                <a:solidFill>
                  <a:srgbClr val="AABED7"/>
                </a:solidFill>
                <a:latin typeface="Calibri"/>
              </a:rPr>
              <a:t>¿O claudica la maquinaria química que comunica a ambos en la placa motora?</a:t>
            </a:r>
          </a:p>
        </p:txBody>
      </p:sp>
      <p:sp>
        <p:nvSpPr>
          <p:cNvPr id="17" name="TextBox 16"/>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1 / 8</a:t>
            </a:r>
          </a:p>
        </p:txBody>
      </p:sp>
      <p:sp>
        <p:nvSpPr>
          <p:cNvPr id="18" name="TextBox 17"/>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6D6A0"/>
                </a:solidFill>
                <a:latin typeface="Calibri"/>
              </a:rPr>
              <a:t>INFRAESTRUCTURA DE LA COMUNICACIÓN</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Sinapsis Eléctrica vs. Sinapsis Química</a:t>
            </a:r>
          </a:p>
        </p:txBody>
      </p:sp>
      <p:sp>
        <p:nvSpPr>
          <p:cNvPr id="4" name="Rectangle 3"/>
          <p:cNvSpPr/>
          <p:nvPr/>
        </p:nvSpPr>
        <p:spPr>
          <a:xfrm>
            <a:off x="548640" y="1536192"/>
            <a:ext cx="1280160" cy="4572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907127" cy="731520"/>
          </a:xfrm>
          <a:prstGeom prst="rect">
            <a:avLst/>
          </a:prstGeom>
          <a:noFill/>
        </p:spPr>
        <p:txBody>
          <a:bodyPr wrap="square" anchor="t" lIns="0" rIns="0" tIns="0" bIns="0">
            <a:spAutoFit/>
          </a:bodyPr>
          <a:lstStyle/>
          <a:p>
            <a:r>
              <a:rPr sz="2000" b="1" lang="es-ES">
                <a:solidFill>
                  <a:srgbClr val="06D6A0"/>
                </a:solidFill>
                <a:latin typeface="Calibri"/>
              </a:rPr>
              <a:t>Sinapsis Eléctrica (El Puente Directo)</a:t>
            </a:r>
          </a:p>
        </p:txBody>
      </p:sp>
      <p:sp>
        <p:nvSpPr>
          <p:cNvPr id="8" name="TextBox 7"/>
          <p:cNvSpPr txBox="1"/>
          <p:nvPr/>
        </p:nvSpPr>
        <p:spPr>
          <a:xfrm>
            <a:off x="822960" y="2880360"/>
            <a:ext cx="4907127" cy="3200400"/>
          </a:xfrm>
          <a:prstGeom prst="rect">
            <a:avLst/>
          </a:prstGeom>
          <a:noFill/>
        </p:spPr>
        <p:txBody>
          <a:bodyPr wrap="square" lIns="0" rIns="0" tIns="0" bIns="0">
            <a:spAutoFit/>
          </a:bodyPr>
          <a:lstStyle/>
          <a:p>
            <a:pPr>
              <a:lnSpc>
                <a:spcPct val="108000"/>
              </a:lnSpc>
              <a:spcAft>
                <a:spcPts val="1275"/>
              </a:spcAft>
            </a:pPr>
            <a:r>
              <a:rPr sz="1700" b="1" lang="es-ES">
                <a:solidFill>
                  <a:srgbClr val="F0F4F8"/>
                </a:solidFill>
                <a:latin typeface="Calibri"/>
              </a:rPr>
              <a:t>Estructura: </a:t>
            </a:r>
            <a:r>
              <a:rPr sz="1700" b="0" lang="es-ES">
                <a:solidFill>
                  <a:srgbClr val="AABED7"/>
                </a:solidFill>
                <a:latin typeface="Calibri"/>
              </a:rPr>
              <a:t>Uniones gap formadas por hemicanales de conexinas (conexones) alineados.</a:t>
            </a:r>
          </a:p>
          <a:p>
            <a:pPr>
              <a:lnSpc>
                <a:spcPct val="108000"/>
              </a:lnSpc>
              <a:spcAft>
                <a:spcPts val="1275"/>
              </a:spcAft>
            </a:pPr>
            <a:r>
              <a:rPr sz="1700" b="1" lang="es-ES">
                <a:solidFill>
                  <a:srgbClr val="F0F4F8"/>
                </a:solidFill>
                <a:latin typeface="Calibri"/>
              </a:rPr>
              <a:t>Cinética: </a:t>
            </a:r>
            <a:r>
              <a:rPr sz="1700" b="0" lang="es-ES">
                <a:solidFill>
                  <a:srgbClr val="AABED7"/>
                </a:solidFill>
                <a:latin typeface="Calibri"/>
              </a:rPr>
              <a:t>Cuasi-instantánea (sin retardo; ~0.2 ms).</a:t>
            </a:r>
          </a:p>
          <a:p>
            <a:pPr>
              <a:lnSpc>
                <a:spcPct val="108000"/>
              </a:lnSpc>
              <a:spcAft>
                <a:spcPts val="1275"/>
              </a:spcAft>
            </a:pPr>
            <a:r>
              <a:rPr sz="1700" b="1" lang="es-ES">
                <a:solidFill>
                  <a:srgbClr val="F0F4F8"/>
                </a:solidFill>
                <a:latin typeface="Calibri"/>
              </a:rPr>
              <a:t>Dirección: </a:t>
            </a:r>
            <a:r>
              <a:rPr sz="1700" b="0" lang="es-ES">
                <a:solidFill>
                  <a:srgbClr val="AABED7"/>
                </a:solidFill>
                <a:latin typeface="Calibri"/>
              </a:rPr>
              <a:t>Bidireccional (acoplamiento electrotónico directo).</a:t>
            </a:r>
          </a:p>
          <a:p>
            <a:pPr>
              <a:lnSpc>
                <a:spcPct val="108000"/>
              </a:lnSpc>
              <a:spcAft>
                <a:spcPts val="1275"/>
              </a:spcAft>
            </a:pPr>
            <a:r>
              <a:rPr sz="1700" b="1" lang="es-ES">
                <a:solidFill>
                  <a:srgbClr val="F0F4F8"/>
                </a:solidFill>
                <a:latin typeface="Calibri"/>
              </a:rPr>
              <a:t>Función biológica: </a:t>
            </a:r>
            <a:r>
              <a:rPr sz="1700" b="0" lang="es-ES">
                <a:solidFill>
                  <a:srgbClr val="AABED7"/>
                </a:solidFill>
                <a:latin typeface="Calibri"/>
              </a:rPr>
              <a:t>Sincronización masiva de poblaciones celulares (interneuronas, miocardio, músculo liso).</a:t>
            </a:r>
          </a:p>
        </p:txBody>
      </p:sp>
      <p:sp>
        <p:nvSpPr>
          <p:cNvPr id="9" name="Rounded Rectangle 8"/>
          <p:cNvSpPr/>
          <p:nvPr/>
        </p:nvSpPr>
        <p:spPr>
          <a:xfrm>
            <a:off x="6233007"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3007"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7327" y="2057400"/>
            <a:ext cx="4907127" cy="731520"/>
          </a:xfrm>
          <a:prstGeom prst="rect">
            <a:avLst/>
          </a:prstGeom>
          <a:noFill/>
        </p:spPr>
        <p:txBody>
          <a:bodyPr wrap="square" anchor="t" lIns="0" rIns="0" tIns="0" bIns="0">
            <a:spAutoFit/>
          </a:bodyPr>
          <a:lstStyle/>
          <a:p>
            <a:r>
              <a:rPr sz="2000" b="1" lang="es-ES">
                <a:solidFill>
                  <a:srgbClr val="00B4D8"/>
                </a:solidFill>
                <a:latin typeface="Calibri"/>
              </a:rPr>
              <a:t>Sinapsis Química (La Computadora Molecular)</a:t>
            </a:r>
          </a:p>
        </p:txBody>
      </p:sp>
      <p:sp>
        <p:nvSpPr>
          <p:cNvPr id="12" name="TextBox 11"/>
          <p:cNvSpPr txBox="1"/>
          <p:nvPr/>
        </p:nvSpPr>
        <p:spPr>
          <a:xfrm>
            <a:off x="6507327" y="2880360"/>
            <a:ext cx="4907127" cy="3200400"/>
          </a:xfrm>
          <a:prstGeom prst="rect">
            <a:avLst/>
          </a:prstGeom>
          <a:noFill/>
        </p:spPr>
        <p:txBody>
          <a:bodyPr wrap="square" lIns="0" rIns="0" tIns="0" bIns="0">
            <a:spAutoFit/>
          </a:bodyPr>
          <a:lstStyle/>
          <a:p>
            <a:pPr>
              <a:lnSpc>
                <a:spcPct val="108000"/>
              </a:lnSpc>
              <a:spcAft>
                <a:spcPts val="1275"/>
              </a:spcAft>
            </a:pPr>
            <a:r>
              <a:rPr sz="1700" b="1" lang="es-ES">
                <a:solidFill>
                  <a:srgbClr val="F0F4F8"/>
                </a:solidFill>
                <a:latin typeface="Calibri"/>
              </a:rPr>
              <a:t>Estructura: </a:t>
            </a:r>
            <a:r>
              <a:rPr sz="1700" b="0" lang="es-ES">
                <a:solidFill>
                  <a:srgbClr val="AABED7"/>
                </a:solidFill>
                <a:latin typeface="Calibri"/>
              </a:rPr>
              <a:t>Hendidura sináptica (20-40 nm), vesículas presinápticas y densidad postsináptica.</a:t>
            </a:r>
          </a:p>
          <a:p>
            <a:pPr>
              <a:lnSpc>
                <a:spcPct val="108000"/>
              </a:lnSpc>
              <a:spcAft>
                <a:spcPts val="1275"/>
              </a:spcAft>
            </a:pPr>
            <a:r>
              <a:rPr sz="1700" b="1" lang="es-ES">
                <a:solidFill>
                  <a:srgbClr val="F0F4F8"/>
                </a:solidFill>
                <a:latin typeface="Calibri"/>
              </a:rPr>
              <a:t>Cinética: </a:t>
            </a:r>
            <a:r>
              <a:rPr sz="1700" b="0" lang="es-ES">
                <a:solidFill>
                  <a:srgbClr val="AABED7"/>
                </a:solidFill>
                <a:latin typeface="Calibri"/>
              </a:rPr>
              <a:t>Retardo sináptico obligado (0.5 a 1.0 ms) por exocitosis y difusión.</a:t>
            </a:r>
          </a:p>
          <a:p>
            <a:pPr>
              <a:lnSpc>
                <a:spcPct val="108000"/>
              </a:lnSpc>
              <a:spcAft>
                <a:spcPts val="1275"/>
              </a:spcAft>
            </a:pPr>
            <a:r>
              <a:rPr sz="1700" b="1" lang="es-ES">
                <a:solidFill>
                  <a:srgbClr val="F0F4F8"/>
                </a:solidFill>
                <a:latin typeface="Calibri"/>
              </a:rPr>
              <a:t>Dirección: </a:t>
            </a:r>
            <a:r>
              <a:rPr sz="1700" b="0" lang="es-ES">
                <a:solidFill>
                  <a:srgbClr val="AABED7"/>
                </a:solidFill>
                <a:latin typeface="Calibri"/>
              </a:rPr>
              <a:t>Estrictamente unidireccional (presinapsis → postsinapsis).</a:t>
            </a:r>
          </a:p>
          <a:p>
            <a:pPr>
              <a:lnSpc>
                <a:spcPct val="108000"/>
              </a:lnSpc>
              <a:spcAft>
                <a:spcPts val="1275"/>
              </a:spcAft>
            </a:pPr>
            <a:r>
              <a:rPr sz="1700" b="1" lang="es-ES">
                <a:solidFill>
                  <a:srgbClr val="F0F4F8"/>
                </a:solidFill>
                <a:latin typeface="Calibri"/>
              </a:rPr>
              <a:t>Función biológica: </a:t>
            </a:r>
            <a:r>
              <a:rPr sz="1700" b="0" lang="es-ES">
                <a:solidFill>
                  <a:srgbClr val="AABED7"/>
                </a:solidFill>
                <a:latin typeface="Calibri"/>
              </a:rPr>
              <a:t>Plasticidad, amplificación de señal, modulación graduada y principal diana farmacológica.</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2 / 8</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F77F00"/>
                </a:solidFill>
                <a:latin typeface="Calibri"/>
              </a:rPr>
              <a:t>MECANISMO GENERAL</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El Ciclo Sináptico y los Criterios de un Mensajero</a:t>
            </a:r>
          </a:p>
        </p:txBody>
      </p:sp>
      <p:sp>
        <p:nvSpPr>
          <p:cNvPr id="4" name="Rectangle 3"/>
          <p:cNvSpPr/>
          <p:nvPr/>
        </p:nvSpPr>
        <p:spPr>
          <a:xfrm>
            <a:off x="548640" y="1536192"/>
            <a:ext cx="1280160" cy="45720"/>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907127" cy="731520"/>
          </a:xfrm>
          <a:prstGeom prst="rect">
            <a:avLst/>
          </a:prstGeom>
          <a:noFill/>
        </p:spPr>
        <p:txBody>
          <a:bodyPr wrap="square" anchor="t" lIns="0" rIns="0" tIns="0" bIns="0">
            <a:spAutoFit/>
          </a:bodyPr>
          <a:lstStyle/>
          <a:p>
            <a:r>
              <a:rPr sz="2000" b="1" lang="es-ES">
                <a:solidFill>
                  <a:srgbClr val="F77F00"/>
                </a:solidFill>
                <a:latin typeface="Calibri"/>
              </a:rPr>
              <a:t>El Manifiesto del Neurotransmisor</a:t>
            </a:r>
          </a:p>
        </p:txBody>
      </p:sp>
      <p:sp>
        <p:nvSpPr>
          <p:cNvPr id="8" name="TextBox 7"/>
          <p:cNvSpPr txBox="1"/>
          <p:nvPr/>
        </p:nvSpPr>
        <p:spPr>
          <a:xfrm>
            <a:off x="822960" y="2880360"/>
            <a:ext cx="4907127"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1. Síntesis: </a:t>
            </a:r>
            <a:r>
              <a:rPr sz="1500" b="0" lang="es-ES">
                <a:solidFill>
                  <a:srgbClr val="AABED7"/>
                </a:solidFill>
                <a:latin typeface="Calibri"/>
              </a:rPr>
              <a:t>Presencia y síntesis confirmada en la neurona presináptica.</a:t>
            </a:r>
          </a:p>
          <a:p>
            <a:pPr>
              <a:lnSpc>
                <a:spcPct val="108000"/>
              </a:lnSpc>
              <a:spcAft>
                <a:spcPts val="1125"/>
              </a:spcAft>
            </a:pPr>
            <a:r>
              <a:rPr sz="1500" b="1" lang="es-ES">
                <a:solidFill>
                  <a:srgbClr val="F0F4F8"/>
                </a:solidFill>
                <a:latin typeface="Calibri"/>
              </a:rPr>
              <a:t>2. Liberación: </a:t>
            </a:r>
            <a:r>
              <a:rPr sz="1500" b="0" lang="es-ES">
                <a:solidFill>
                  <a:srgbClr val="AABED7"/>
                </a:solidFill>
                <a:latin typeface="Calibri"/>
              </a:rPr>
              <a:t>Liberación presináptica dependiente de despolarización y Ca2+.</a:t>
            </a:r>
          </a:p>
          <a:p>
            <a:pPr>
              <a:lnSpc>
                <a:spcPct val="108000"/>
              </a:lnSpc>
              <a:spcAft>
                <a:spcPts val="1125"/>
              </a:spcAft>
            </a:pPr>
            <a:r>
              <a:rPr sz="1500" b="1" lang="es-ES">
                <a:solidFill>
                  <a:srgbClr val="F0F4F8"/>
                </a:solidFill>
                <a:latin typeface="Calibri"/>
              </a:rPr>
              <a:t>3. Identidad de acción: </a:t>
            </a:r>
            <a:r>
              <a:rPr sz="1500" b="0" lang="es-ES">
                <a:solidFill>
                  <a:srgbClr val="AABED7"/>
                </a:solidFill>
                <a:latin typeface="Calibri"/>
              </a:rPr>
              <a:t>La aplicación exógena mimetiza exactamente el efecto fisiológico.</a:t>
            </a:r>
          </a:p>
          <a:p>
            <a:pPr>
              <a:lnSpc>
                <a:spcPct val="108000"/>
              </a:lnSpc>
              <a:spcAft>
                <a:spcPts val="1125"/>
              </a:spcAft>
            </a:pPr>
            <a:r>
              <a:rPr sz="1500" b="1" lang="es-ES">
                <a:solidFill>
                  <a:srgbClr val="F0F4F8"/>
                </a:solidFill>
                <a:latin typeface="Calibri"/>
              </a:rPr>
              <a:t>4. Terminación: </a:t>
            </a:r>
            <a:r>
              <a:rPr sz="1500" b="0" lang="es-ES">
                <a:solidFill>
                  <a:srgbClr val="AABED7"/>
                </a:solidFill>
                <a:latin typeface="Calibri"/>
              </a:rPr>
              <a:t>Existencia de un mecanismo específico de eliminación o degradación.</a:t>
            </a:r>
          </a:p>
          <a:p>
            <a:pPr>
              <a:lnSpc>
                <a:spcPct val="108000"/>
              </a:lnSpc>
              <a:spcAft>
                <a:spcPts val="1125"/>
              </a:spcAft>
            </a:pPr>
            <a:r>
              <a:rPr sz="1500" b="1" lang="es-ES">
                <a:solidFill>
                  <a:srgbClr val="F0F4F8"/>
                </a:solidFill>
                <a:latin typeface="Calibri"/>
              </a:rPr>
              <a:t>Nota sobre gases: </a:t>
            </a:r>
            <a:r>
              <a:rPr sz="1500" b="0" lang="es-ES">
                <a:solidFill>
                  <a:srgbClr val="AABED7"/>
                </a:solidFill>
                <a:latin typeface="Calibri"/>
              </a:rPr>
              <a:t>Gases como el NO rompen estas reglas al no empaquetarse ni recaptarse.</a:t>
            </a:r>
          </a:p>
        </p:txBody>
      </p:sp>
      <p:sp>
        <p:nvSpPr>
          <p:cNvPr id="9" name="Rounded Rectangle 8"/>
          <p:cNvSpPr/>
          <p:nvPr/>
        </p:nvSpPr>
        <p:spPr>
          <a:xfrm>
            <a:off x="6233007"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3007"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7327" y="2057400"/>
            <a:ext cx="4907127" cy="731520"/>
          </a:xfrm>
          <a:prstGeom prst="rect">
            <a:avLst/>
          </a:prstGeom>
          <a:noFill/>
        </p:spPr>
        <p:txBody>
          <a:bodyPr wrap="square" anchor="t" lIns="0" rIns="0" tIns="0" bIns="0">
            <a:spAutoFit/>
          </a:bodyPr>
          <a:lstStyle/>
          <a:p>
            <a:r>
              <a:rPr sz="2000" b="1" lang="es-ES">
                <a:solidFill>
                  <a:srgbClr val="00B4D8"/>
                </a:solidFill>
                <a:latin typeface="Calibri"/>
              </a:rPr>
              <a:t>Las 5 Fases del Ciclo Sináptico</a:t>
            </a:r>
          </a:p>
        </p:txBody>
      </p:sp>
      <p:sp>
        <p:nvSpPr>
          <p:cNvPr id="12" name="TextBox 11"/>
          <p:cNvSpPr txBox="1"/>
          <p:nvPr/>
        </p:nvSpPr>
        <p:spPr>
          <a:xfrm>
            <a:off x="6507327" y="2880360"/>
            <a:ext cx="4907127"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1. Síntesis: </a:t>
            </a:r>
            <a:r>
              <a:rPr sz="1500" b="0" lang="es-ES">
                <a:solidFill>
                  <a:srgbClr val="AABED7"/>
                </a:solidFill>
                <a:latin typeface="Calibri"/>
              </a:rPr>
              <a:t>A partir de precursores específicos mediante enzimas en axón o soma.</a:t>
            </a:r>
          </a:p>
          <a:p>
            <a:pPr>
              <a:lnSpc>
                <a:spcPct val="108000"/>
              </a:lnSpc>
              <a:spcAft>
                <a:spcPts val="1125"/>
              </a:spcAft>
            </a:pPr>
            <a:r>
              <a:rPr sz="1500" b="1" lang="es-ES">
                <a:solidFill>
                  <a:srgbClr val="F0F4F8"/>
                </a:solidFill>
                <a:latin typeface="Calibri"/>
              </a:rPr>
              <a:t>2. Empaquetamiento: </a:t>
            </a:r>
            <a:r>
              <a:rPr sz="1500" b="0" lang="es-ES">
                <a:solidFill>
                  <a:srgbClr val="AABED7"/>
                </a:solidFill>
                <a:latin typeface="Calibri"/>
              </a:rPr>
              <a:t>Bombas H+-ATPasa generan el gradiente para transportadores (VMAT, VAChT).</a:t>
            </a:r>
          </a:p>
          <a:p>
            <a:pPr>
              <a:lnSpc>
                <a:spcPct val="108000"/>
              </a:lnSpc>
              <a:spcAft>
                <a:spcPts val="1125"/>
              </a:spcAft>
            </a:pPr>
            <a:r>
              <a:rPr sz="1500" b="1" lang="es-ES">
                <a:solidFill>
                  <a:srgbClr val="F0F4F8"/>
                </a:solidFill>
                <a:latin typeface="Calibri"/>
              </a:rPr>
              <a:t>3. Liberación: </a:t>
            </a:r>
            <a:r>
              <a:rPr sz="1500" b="0" lang="es-ES">
                <a:solidFill>
                  <a:srgbClr val="AABED7"/>
                </a:solidFill>
                <a:latin typeface="Calibri"/>
              </a:rPr>
              <a:t>Apertura de canales de Ca2+ voltaje-dependientes gatilla la exocitosis.</a:t>
            </a:r>
          </a:p>
          <a:p>
            <a:pPr>
              <a:lnSpc>
                <a:spcPct val="108000"/>
              </a:lnSpc>
              <a:spcAft>
                <a:spcPts val="1125"/>
              </a:spcAft>
            </a:pPr>
            <a:r>
              <a:rPr sz="1500" b="1" lang="es-ES">
                <a:solidFill>
                  <a:srgbClr val="F0F4F8"/>
                </a:solidFill>
                <a:latin typeface="Calibri"/>
              </a:rPr>
              <a:t>4. Acción: </a:t>
            </a:r>
            <a:r>
              <a:rPr sz="1500" b="0" lang="es-ES">
                <a:solidFill>
                  <a:srgbClr val="AABED7"/>
                </a:solidFill>
                <a:latin typeface="Calibri"/>
              </a:rPr>
              <a:t>Unión a receptores postsinápticos específicos (ionotrópicos o metabotrópicos).</a:t>
            </a:r>
          </a:p>
          <a:p>
            <a:pPr>
              <a:lnSpc>
                <a:spcPct val="108000"/>
              </a:lnSpc>
              <a:spcAft>
                <a:spcPts val="1125"/>
              </a:spcAft>
            </a:pPr>
            <a:r>
              <a:rPr sz="1500" b="1" lang="es-ES">
                <a:solidFill>
                  <a:srgbClr val="F0F4F8"/>
                </a:solidFill>
                <a:latin typeface="Calibri"/>
              </a:rPr>
              <a:t>5. Inactivación: </a:t>
            </a:r>
            <a:r>
              <a:rPr sz="1500" b="0" lang="es-ES">
                <a:solidFill>
                  <a:srgbClr val="AABED7"/>
                </a:solidFill>
                <a:latin typeface="Calibri"/>
              </a:rPr>
              <a:t>Limpieza de la hendidura por recaptación presináptica/glial o degradación.</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3 / 8</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0B4D8"/>
                </a:solidFill>
                <a:latin typeface="Calibri"/>
              </a:rPr>
              <a:t>MAQUINARIA BIOFÍSICA</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La Fusión Sináptica: Complejo SNARE y Neurotoxinas</a:t>
            </a:r>
          </a:p>
        </p:txBody>
      </p:sp>
      <p:sp>
        <p:nvSpPr>
          <p:cNvPr id="4" name="Rectangle 3"/>
          <p:cNvSpPr/>
          <p:nvPr/>
        </p:nvSpPr>
        <p:spPr>
          <a:xfrm>
            <a:off x="548640" y="1536192"/>
            <a:ext cx="12801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907127" cy="731520"/>
          </a:xfrm>
          <a:prstGeom prst="rect">
            <a:avLst/>
          </a:prstGeom>
          <a:noFill/>
        </p:spPr>
        <p:txBody>
          <a:bodyPr wrap="square" anchor="t" lIns="0" rIns="0" tIns="0" bIns="0">
            <a:spAutoFit/>
          </a:bodyPr>
          <a:lstStyle/>
          <a:p>
            <a:r>
              <a:rPr sz="2000" b="1" lang="es-ES">
                <a:solidFill>
                  <a:srgbClr val="00B4D8"/>
                </a:solidFill>
                <a:latin typeface="Calibri"/>
              </a:rPr>
              <a:t>La Cremallera Molecular (Complejo SNARE)</a:t>
            </a:r>
          </a:p>
        </p:txBody>
      </p:sp>
      <p:sp>
        <p:nvSpPr>
          <p:cNvPr id="8" name="TextBox 7"/>
          <p:cNvSpPr txBox="1"/>
          <p:nvPr/>
        </p:nvSpPr>
        <p:spPr>
          <a:xfrm>
            <a:off x="822960" y="2880360"/>
            <a:ext cx="4907127"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v-SNARE: </a:t>
            </a:r>
            <a:r>
              <a:rPr sz="1500" b="0" lang="es-ES">
                <a:solidFill>
                  <a:srgbClr val="AABED7"/>
                </a:solidFill>
                <a:latin typeface="Calibri"/>
              </a:rPr>
              <a:t>Sinaptobrevina (VAMP) anclada firmemente a la vesícula.</a:t>
            </a:r>
          </a:p>
          <a:p>
            <a:pPr>
              <a:lnSpc>
                <a:spcPct val="108000"/>
              </a:lnSpc>
              <a:spcAft>
                <a:spcPts val="1125"/>
              </a:spcAft>
            </a:pPr>
            <a:r>
              <a:rPr sz="1500" b="1" lang="es-ES">
                <a:solidFill>
                  <a:srgbClr val="F0F4F8"/>
                </a:solidFill>
                <a:latin typeface="Calibri"/>
              </a:rPr>
              <a:t>t-SNARE: </a:t>
            </a:r>
            <a:r>
              <a:rPr sz="1500" b="0" lang="es-ES">
                <a:solidFill>
                  <a:srgbClr val="AABED7"/>
                </a:solidFill>
                <a:latin typeface="Calibri"/>
              </a:rPr>
              <a:t>Sintaxina-1 y SNAP-25 ancladas en la membrana plasmática diana.</a:t>
            </a:r>
          </a:p>
          <a:p>
            <a:pPr>
              <a:lnSpc>
                <a:spcPct val="108000"/>
              </a:lnSpc>
              <a:spcAft>
                <a:spcPts val="1125"/>
              </a:spcAft>
            </a:pPr>
            <a:r>
              <a:rPr sz="1500" b="1" lang="es-ES">
                <a:solidFill>
                  <a:srgbClr val="F0F4F8"/>
                </a:solidFill>
                <a:latin typeface="Calibri"/>
              </a:rPr>
              <a:t>El Freno y Gatillo: </a:t>
            </a:r>
            <a:r>
              <a:rPr sz="1500" b="0" lang="es-ES">
                <a:solidFill>
                  <a:srgbClr val="AABED7"/>
                </a:solidFill>
                <a:latin typeface="Calibri"/>
              </a:rPr>
              <a:t>Sinaptotagmina-1 actúa de sensor de Ca2+; sujeta el proceso hasta la entrada del ion y gatilla la fusión en &lt; 1 ms.</a:t>
            </a:r>
          </a:p>
          <a:p>
            <a:pPr>
              <a:lnSpc>
                <a:spcPct val="108000"/>
              </a:lnSpc>
              <a:spcAft>
                <a:spcPts val="1125"/>
              </a:spcAft>
            </a:pPr>
            <a:r>
              <a:rPr sz="1500" b="1" lang="es-ES">
                <a:solidFill>
                  <a:srgbClr val="F0F4F8"/>
                </a:solidFill>
                <a:latin typeface="Calibri"/>
              </a:rPr>
              <a:t>Mecánica: </a:t>
            </a:r>
            <a:r>
              <a:rPr sz="1500" b="0" lang="es-ES">
                <a:solidFill>
                  <a:srgbClr val="AABED7"/>
                </a:solidFill>
                <a:latin typeface="Calibri"/>
              </a:rPr>
              <a:t>El enrollamiento en espiral de las cuatro hélices tracciona las membranas hasta vencer su repulsión electrostática.</a:t>
            </a:r>
          </a:p>
        </p:txBody>
      </p:sp>
      <p:sp>
        <p:nvSpPr>
          <p:cNvPr id="9" name="Rounded Rectangle 8"/>
          <p:cNvSpPr/>
          <p:nvPr/>
        </p:nvSpPr>
        <p:spPr>
          <a:xfrm>
            <a:off x="6233007"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3007" y="1938528"/>
            <a:ext cx="64008" cy="4215384"/>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7327" y="2057400"/>
            <a:ext cx="4907127" cy="731520"/>
          </a:xfrm>
          <a:prstGeom prst="rect">
            <a:avLst/>
          </a:prstGeom>
          <a:noFill/>
        </p:spPr>
        <p:txBody>
          <a:bodyPr wrap="square" anchor="t" lIns="0" rIns="0" tIns="0" bIns="0">
            <a:spAutoFit/>
          </a:bodyPr>
          <a:lstStyle/>
          <a:p>
            <a:r>
              <a:rPr sz="2000" b="1" lang="es-ES">
                <a:solidFill>
                  <a:srgbClr val="F77F00"/>
                </a:solidFill>
                <a:latin typeface="Calibri"/>
              </a:rPr>
              <a:t>Las Tijeras Clostridiales (Toxinas)</a:t>
            </a:r>
          </a:p>
        </p:txBody>
      </p:sp>
      <p:sp>
        <p:nvSpPr>
          <p:cNvPr id="12" name="TextBox 11"/>
          <p:cNvSpPr txBox="1"/>
          <p:nvPr/>
        </p:nvSpPr>
        <p:spPr>
          <a:xfrm>
            <a:off x="6507327" y="2880360"/>
            <a:ext cx="4907127"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Toxina Botulínica: </a:t>
            </a:r>
            <a:r>
              <a:rPr sz="1500" b="0" lang="es-ES">
                <a:solidFill>
                  <a:srgbClr val="AABED7"/>
                </a:solidFill>
                <a:latin typeface="Calibri"/>
              </a:rPr>
              <a:t>Escinde SNAP-25, Sintaxina y Sinaptobrevina en la terminal colinérgica periférica → Bloqueo de liberación de ACh → Parálisis flácida.</a:t>
            </a:r>
          </a:p>
          <a:p>
            <a:pPr>
              <a:lnSpc>
                <a:spcPct val="108000"/>
              </a:lnSpc>
              <a:spcAft>
                <a:spcPts val="1125"/>
              </a:spcAft>
            </a:pPr>
            <a:r>
              <a:rPr sz="1500" b="1" lang="es-ES">
                <a:solidFill>
                  <a:srgbClr val="F0F4F8"/>
                </a:solidFill>
                <a:latin typeface="Calibri"/>
              </a:rPr>
              <a:t>Toxina Tetánica: </a:t>
            </a:r>
            <a:r>
              <a:rPr sz="1500" b="0" lang="es-ES">
                <a:solidFill>
                  <a:srgbClr val="AABED7"/>
                </a:solidFill>
                <a:latin typeface="Calibri"/>
              </a:rPr>
              <a:t>Escinde Sinaptobrevina tras transporte retrógrado hacia la médula espinal.</a:t>
            </a:r>
          </a:p>
          <a:p>
            <a:pPr>
              <a:lnSpc>
                <a:spcPct val="108000"/>
              </a:lnSpc>
              <a:spcAft>
                <a:spcPts val="1125"/>
              </a:spcAft>
            </a:pPr>
            <a:r>
              <a:rPr sz="1500" b="1" lang="es-ES">
                <a:solidFill>
                  <a:srgbClr val="F0F4F8"/>
                </a:solidFill>
                <a:latin typeface="Calibri"/>
              </a:rPr>
              <a:t>Mecanismo en Tétanos: </a:t>
            </a:r>
            <a:r>
              <a:rPr sz="1500" b="0" lang="es-ES">
                <a:solidFill>
                  <a:srgbClr val="AABED7"/>
                </a:solidFill>
                <a:latin typeface="Calibri"/>
              </a:rPr>
              <a:t>Bloquea exocitosis de GABA y glicina en interneuronas de Renshaw inhibitorias → Desinhibición motora masiva → Parálisis espástica extrema.</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4 / 8</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0B4D8"/>
                </a:solidFill>
                <a:latin typeface="Calibri"/>
              </a:rPr>
              <a:t>RECEPTORES Y TRANSDUCCIÓN</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Decodificando el Mensaje: Ionotrópicos vs. Metabotrópicos</a:t>
            </a:r>
          </a:p>
        </p:txBody>
      </p:sp>
      <p:sp>
        <p:nvSpPr>
          <p:cNvPr id="4" name="Rectangle 3"/>
          <p:cNvSpPr/>
          <p:nvPr/>
        </p:nvSpPr>
        <p:spPr>
          <a:xfrm>
            <a:off x="548640" y="1536192"/>
            <a:ext cx="12801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3012338" cy="731520"/>
          </a:xfrm>
          <a:prstGeom prst="rect">
            <a:avLst/>
          </a:prstGeom>
          <a:noFill/>
        </p:spPr>
        <p:txBody>
          <a:bodyPr wrap="square" anchor="t" lIns="0" rIns="0" tIns="0" bIns="0">
            <a:spAutoFit/>
          </a:bodyPr>
          <a:lstStyle/>
          <a:p>
            <a:r>
              <a:rPr sz="1800" b="1" lang="es-ES">
                <a:solidFill>
                  <a:srgbClr val="00B4D8"/>
                </a:solidFill>
                <a:latin typeface="Calibri"/>
              </a:rPr>
              <a:t>Receptor Ionotrópico (El Canal Rápido)</a:t>
            </a:r>
          </a:p>
        </p:txBody>
      </p:sp>
      <p:sp>
        <p:nvSpPr>
          <p:cNvPr id="8" name="TextBox 7"/>
          <p:cNvSpPr txBox="1"/>
          <p:nvPr/>
        </p:nvSpPr>
        <p:spPr>
          <a:xfrm>
            <a:off x="822960"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Mecanismo: </a:t>
            </a:r>
            <a:r>
              <a:rPr sz="1400" b="0" lang="es-ES">
                <a:solidFill>
                  <a:srgbClr val="AABED7"/>
                </a:solidFill>
                <a:latin typeface="Calibri"/>
              </a:rPr>
              <a:t>Poro iónico intrínseco directo abierto por la fijación del ligando.</a:t>
            </a:r>
          </a:p>
          <a:p>
            <a:pPr>
              <a:lnSpc>
                <a:spcPct val="108000"/>
              </a:lnSpc>
              <a:spcAft>
                <a:spcPts val="1050"/>
              </a:spcAft>
            </a:pPr>
            <a:r>
              <a:rPr sz="1400" b="1" lang="es-ES">
                <a:solidFill>
                  <a:srgbClr val="F0F4F8"/>
                </a:solidFill>
                <a:latin typeface="Calibri"/>
              </a:rPr>
              <a:t>Cinética: </a:t>
            </a:r>
            <a:r>
              <a:rPr sz="1400" b="0" lang="es-ES">
                <a:solidFill>
                  <a:srgbClr val="AABED7"/>
                </a:solidFill>
                <a:latin typeface="Calibri"/>
              </a:rPr>
              <a:t>Respuesta en milisegundos (1-10 ms); efecto rápido, breve y fásico.</a:t>
            </a:r>
          </a:p>
          <a:p>
            <a:pPr>
              <a:lnSpc>
                <a:spcPct val="108000"/>
              </a:lnSpc>
              <a:spcAft>
                <a:spcPts val="1050"/>
              </a:spcAft>
            </a:pPr>
            <a:r>
              <a:rPr sz="1400" b="1" lang="es-ES">
                <a:solidFill>
                  <a:srgbClr val="F0F4F8"/>
                </a:solidFill>
                <a:latin typeface="Calibri"/>
              </a:rPr>
              <a:t>Ejemplos clave: </a:t>
            </a:r>
            <a:r>
              <a:rPr sz="1400" b="0" lang="es-ES">
                <a:solidFill>
                  <a:srgbClr val="AABED7"/>
                </a:solidFill>
                <a:latin typeface="Calibri"/>
              </a:rPr>
              <a:t>Receptor Nicotínico de ACh (Na+/Ca2+), GABAA (Cl-), receptores glutamatérgicos AMPA y NMDA.</a:t>
            </a:r>
          </a:p>
          <a:p>
            <a:pPr>
              <a:lnSpc>
                <a:spcPct val="108000"/>
              </a:lnSpc>
              <a:spcAft>
                <a:spcPts val="1050"/>
              </a:spcAft>
            </a:pPr>
            <a:r>
              <a:rPr sz="1400" b="1" lang="es-ES">
                <a:solidFill>
                  <a:srgbClr val="F0F4F8"/>
                </a:solidFill>
                <a:latin typeface="Calibri"/>
              </a:rPr>
              <a:t>Función: </a:t>
            </a:r>
            <a:r>
              <a:rPr sz="1400" b="0" lang="es-ES">
                <a:solidFill>
                  <a:srgbClr val="AABED7"/>
                </a:solidFill>
                <a:latin typeface="Calibri"/>
              </a:rPr>
              <a:t>Transmisión excitatoria e inhibitoria rápida punto a punto.</a:t>
            </a:r>
          </a:p>
        </p:txBody>
      </p:sp>
      <p:sp>
        <p:nvSpPr>
          <p:cNvPr id="9" name="Rounded Rectangle 8"/>
          <p:cNvSpPr/>
          <p:nvPr/>
        </p:nvSpPr>
        <p:spPr>
          <a:xfrm>
            <a:off x="4338218"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8218" y="1938528"/>
            <a:ext cx="64008" cy="4215384"/>
          </a:xfrm>
          <a:prstGeom prst="rect">
            <a:avLst/>
          </a:prstGeom>
          <a:solidFill>
            <a:srgbClr val="A37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2538" y="2057400"/>
            <a:ext cx="3012338" cy="731520"/>
          </a:xfrm>
          <a:prstGeom prst="rect">
            <a:avLst/>
          </a:prstGeom>
          <a:noFill/>
        </p:spPr>
        <p:txBody>
          <a:bodyPr wrap="square" anchor="t" lIns="0" rIns="0" tIns="0" bIns="0">
            <a:spAutoFit/>
          </a:bodyPr>
          <a:lstStyle/>
          <a:p>
            <a:r>
              <a:rPr sz="1800" b="1" lang="es-ES">
                <a:solidFill>
                  <a:srgbClr val="A374FF"/>
                </a:solidFill>
                <a:latin typeface="Calibri"/>
              </a:rPr>
              <a:t>Receptor Metabotrópico (La Máquina de Cascada)</a:t>
            </a:r>
          </a:p>
        </p:txBody>
      </p:sp>
      <p:sp>
        <p:nvSpPr>
          <p:cNvPr id="12" name="TextBox 11"/>
          <p:cNvSpPr txBox="1"/>
          <p:nvPr/>
        </p:nvSpPr>
        <p:spPr>
          <a:xfrm>
            <a:off x="4612538"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Mecanismo: </a:t>
            </a:r>
            <a:r>
              <a:rPr sz="1400" b="0" lang="es-ES">
                <a:solidFill>
                  <a:srgbClr val="AABED7"/>
                </a:solidFill>
                <a:latin typeface="Calibri"/>
              </a:rPr>
              <a:t>Acoplado a proteínas G heterotriméricas (Gs, Gi, Gq) y cascadas enzimáticas.</a:t>
            </a:r>
          </a:p>
          <a:p>
            <a:pPr>
              <a:lnSpc>
                <a:spcPct val="108000"/>
              </a:lnSpc>
              <a:spcAft>
                <a:spcPts val="1050"/>
              </a:spcAft>
            </a:pPr>
            <a:r>
              <a:rPr sz="1400" b="1" lang="es-ES">
                <a:solidFill>
                  <a:srgbClr val="F0F4F8"/>
                </a:solidFill>
                <a:latin typeface="Calibri"/>
              </a:rPr>
              <a:t>Cinética: </a:t>
            </a:r>
            <a:r>
              <a:rPr sz="1400" b="0" lang="es-ES">
                <a:solidFill>
                  <a:srgbClr val="AABED7"/>
                </a:solidFill>
                <a:latin typeface="Calibri"/>
              </a:rPr>
              <a:t>Respuesta lenta (segundos a minutos); duradera y altamente amplificada.</a:t>
            </a:r>
          </a:p>
          <a:p>
            <a:pPr>
              <a:lnSpc>
                <a:spcPct val="108000"/>
              </a:lnSpc>
              <a:spcAft>
                <a:spcPts val="1050"/>
              </a:spcAft>
            </a:pPr>
            <a:r>
              <a:rPr sz="1400" b="1" lang="es-ES">
                <a:solidFill>
                  <a:srgbClr val="F0F4F8"/>
                </a:solidFill>
                <a:latin typeface="Calibri"/>
              </a:rPr>
              <a:t>Ejemplos clave: </a:t>
            </a:r>
            <a:r>
              <a:rPr sz="1400" b="0" lang="es-ES">
                <a:solidFill>
                  <a:srgbClr val="AABED7"/>
                </a:solidFill>
                <a:latin typeface="Calibri"/>
              </a:rPr>
              <a:t>Receptores Muscarínicos (M1-M5), Adrenérgicos (alfa, beta), Dopaminérgicos (D1-D5), GABAB.</a:t>
            </a:r>
          </a:p>
          <a:p>
            <a:pPr>
              <a:lnSpc>
                <a:spcPct val="108000"/>
              </a:lnSpc>
              <a:spcAft>
                <a:spcPts val="1050"/>
              </a:spcAft>
            </a:pPr>
            <a:r>
              <a:rPr sz="1400" b="1" lang="es-ES">
                <a:solidFill>
                  <a:srgbClr val="F0F4F8"/>
                </a:solidFill>
                <a:latin typeface="Calibri"/>
              </a:rPr>
              <a:t>Función: </a:t>
            </a:r>
            <a:r>
              <a:rPr sz="1400" b="0" lang="es-ES">
                <a:solidFill>
                  <a:srgbClr val="AABED7"/>
                </a:solidFill>
                <a:latin typeface="Calibri"/>
              </a:rPr>
              <a:t>Modulación plástica, fosforilación celular y regulación génica.</a:t>
            </a:r>
          </a:p>
        </p:txBody>
      </p:sp>
      <p:sp>
        <p:nvSpPr>
          <p:cNvPr id="13" name="Rounded Rectangle 12"/>
          <p:cNvSpPr/>
          <p:nvPr/>
        </p:nvSpPr>
        <p:spPr>
          <a:xfrm>
            <a:off x="8127796"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1938528"/>
            <a:ext cx="64008" cy="421538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2116" y="2057400"/>
            <a:ext cx="3012338" cy="731520"/>
          </a:xfrm>
          <a:prstGeom prst="rect">
            <a:avLst/>
          </a:prstGeom>
          <a:noFill/>
        </p:spPr>
        <p:txBody>
          <a:bodyPr wrap="square" anchor="t" lIns="0" rIns="0" tIns="0" bIns="0">
            <a:spAutoFit/>
          </a:bodyPr>
          <a:lstStyle/>
          <a:p>
            <a:r>
              <a:rPr sz="1800" b="1" lang="es-ES">
                <a:solidFill>
                  <a:srgbClr val="06D6A0"/>
                </a:solidFill>
                <a:latin typeface="Calibri"/>
              </a:rPr>
              <a:t>El Termostato Local Presináptico</a:t>
            </a:r>
          </a:p>
        </p:txBody>
      </p:sp>
      <p:sp>
        <p:nvSpPr>
          <p:cNvPr id="16" name="TextBox 15"/>
          <p:cNvSpPr txBox="1"/>
          <p:nvPr/>
        </p:nvSpPr>
        <p:spPr>
          <a:xfrm>
            <a:off x="8402116"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Autorreceptores: </a:t>
            </a:r>
            <a:r>
              <a:rPr sz="1400" b="0" lang="es-ES">
                <a:solidFill>
                  <a:srgbClr val="AABED7"/>
                </a:solidFill>
                <a:latin typeface="Calibri"/>
              </a:rPr>
              <a:t>Detectan el neurotransmisor recién liberado por la propia terminal y frenan la exocitosis subsiguiente (retroalimentación negativa).</a:t>
            </a:r>
          </a:p>
          <a:p>
            <a:pPr>
              <a:lnSpc>
                <a:spcPct val="108000"/>
              </a:lnSpc>
              <a:spcAft>
                <a:spcPts val="1050"/>
              </a:spcAft>
            </a:pPr>
            <a:r>
              <a:rPr sz="1400" b="1" lang="es-ES">
                <a:solidFill>
                  <a:srgbClr val="F0F4F8"/>
                </a:solidFill>
                <a:latin typeface="Calibri"/>
              </a:rPr>
              <a:t>Heterorreceptores: </a:t>
            </a:r>
            <a:r>
              <a:rPr sz="1400" b="0" lang="es-ES">
                <a:solidFill>
                  <a:srgbClr val="AABED7"/>
                </a:solidFill>
                <a:latin typeface="Calibri"/>
              </a:rPr>
              <a:t>Permiten que transmisores de sinapsis vecinas modulen la liberación local de forma cruzada.</a:t>
            </a:r>
          </a:p>
        </p:txBody>
      </p:sp>
      <p:sp>
        <p:nvSpPr>
          <p:cNvPr id="17" name="TextBox 16"/>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5 / 8</a:t>
            </a:r>
          </a:p>
        </p:txBody>
      </p:sp>
      <p:sp>
        <p:nvSpPr>
          <p:cNvPr id="18" name="TextBox 17"/>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0B4D8"/>
                </a:solidFill>
                <a:latin typeface="Calibri"/>
              </a:rPr>
              <a:t>ARQUITECTURA DE CIRCUITOS</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2600" b="1" lang="es-ES">
                <a:solidFill>
                  <a:srgbClr val="F0F4F8"/>
                </a:solidFill>
                <a:latin typeface="Calibri"/>
              </a:rPr>
              <a:t>Anatomía Sináptica: Sistemas Focales vs. Sistemas de Proyección Difusa</a:t>
            </a:r>
          </a:p>
        </p:txBody>
      </p:sp>
      <p:sp>
        <p:nvSpPr>
          <p:cNvPr id="4" name="Rectangle 3"/>
          <p:cNvSpPr/>
          <p:nvPr/>
        </p:nvSpPr>
        <p:spPr>
          <a:xfrm>
            <a:off x="548640" y="1536192"/>
            <a:ext cx="12801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907127" cy="731520"/>
          </a:xfrm>
          <a:prstGeom prst="rect">
            <a:avLst/>
          </a:prstGeom>
          <a:noFill/>
        </p:spPr>
        <p:txBody>
          <a:bodyPr wrap="square" anchor="t" lIns="0" rIns="0" tIns="0" bIns="0">
            <a:spAutoFit/>
          </a:bodyPr>
          <a:lstStyle/>
          <a:p>
            <a:r>
              <a:rPr sz="2000" b="1" lang="es-ES">
                <a:solidFill>
                  <a:srgbClr val="00B4D8"/>
                </a:solidFill>
                <a:latin typeface="Calibri"/>
              </a:rPr>
              <a:t>Sistemas Cableados (Punto a Punto)</a:t>
            </a:r>
          </a:p>
        </p:txBody>
      </p:sp>
      <p:sp>
        <p:nvSpPr>
          <p:cNvPr id="8" name="TextBox 7"/>
          <p:cNvSpPr txBox="1"/>
          <p:nvPr/>
        </p:nvSpPr>
        <p:spPr>
          <a:xfrm>
            <a:off x="822960" y="2880360"/>
            <a:ext cx="4907127"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Mediadores principales: </a:t>
            </a:r>
            <a:r>
              <a:rPr sz="1400" b="0" lang="es-ES">
                <a:solidFill>
                  <a:srgbClr val="AABED7"/>
                </a:solidFill>
                <a:latin typeface="Calibri"/>
              </a:rPr>
              <a:t>Glutamato (excitador primario del SNC) y GABA (inhibidor primario).</a:t>
            </a:r>
          </a:p>
          <a:p>
            <a:pPr>
              <a:lnSpc>
                <a:spcPct val="108000"/>
              </a:lnSpc>
              <a:spcAft>
                <a:spcPts val="1050"/>
              </a:spcAft>
            </a:pPr>
            <a:r>
              <a:rPr sz="1400" b="1" lang="es-ES">
                <a:solidFill>
                  <a:srgbClr val="F0F4F8"/>
                </a:solidFill>
                <a:latin typeface="Calibri"/>
              </a:rPr>
              <a:t>Arquitectura de red: </a:t>
            </a:r>
            <a:r>
              <a:rPr sz="1400" b="0" lang="es-ES">
                <a:solidFill>
                  <a:srgbClr val="AABED7"/>
                </a:solidFill>
                <a:latin typeface="Calibri"/>
              </a:rPr>
              <a:t>Circuitos con conexiones topográficas sumamente precisas, discretas y milimétricas.</a:t>
            </a:r>
          </a:p>
          <a:p>
            <a:pPr>
              <a:lnSpc>
                <a:spcPct val="108000"/>
              </a:lnSpc>
              <a:spcAft>
                <a:spcPts val="1050"/>
              </a:spcAft>
            </a:pPr>
            <a:r>
              <a:rPr sz="1400" b="1" lang="es-ES">
                <a:solidFill>
                  <a:srgbClr val="F0F4F8"/>
                </a:solidFill>
                <a:latin typeface="Calibri"/>
              </a:rPr>
              <a:t>Función de procesamiento: </a:t>
            </a:r>
            <a:r>
              <a:rPr sz="1400" b="0" lang="es-ES">
                <a:solidFill>
                  <a:srgbClr val="AABED7"/>
                </a:solidFill>
                <a:latin typeface="Calibri"/>
              </a:rPr>
              <a:t>Transmisión de información sensorial discriminativa, control motor fino y computación cortical analítica.</a:t>
            </a:r>
          </a:p>
        </p:txBody>
      </p:sp>
      <p:sp>
        <p:nvSpPr>
          <p:cNvPr id="9" name="Rounded Rectangle 8"/>
          <p:cNvSpPr/>
          <p:nvPr/>
        </p:nvSpPr>
        <p:spPr>
          <a:xfrm>
            <a:off x="6233007" y="1828800"/>
            <a:ext cx="5410047"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3007" y="1938528"/>
            <a:ext cx="64008" cy="4215384"/>
          </a:xfrm>
          <a:prstGeom prst="rect">
            <a:avLst/>
          </a:prstGeom>
          <a:solidFill>
            <a:srgbClr val="A37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7327" y="2057400"/>
            <a:ext cx="4907127" cy="731520"/>
          </a:xfrm>
          <a:prstGeom prst="rect">
            <a:avLst/>
          </a:prstGeom>
          <a:noFill/>
        </p:spPr>
        <p:txBody>
          <a:bodyPr wrap="square" anchor="t" lIns="0" rIns="0" tIns="0" bIns="0">
            <a:spAutoFit/>
          </a:bodyPr>
          <a:lstStyle/>
          <a:p>
            <a:r>
              <a:rPr sz="2000" b="1" lang="es-ES">
                <a:solidFill>
                  <a:srgbClr val="A374FF"/>
                </a:solidFill>
                <a:latin typeface="Calibri"/>
              </a:rPr>
              <a:t>Sistemas de Radiación Difusa (Sistemas Moduladores)</a:t>
            </a:r>
          </a:p>
        </p:txBody>
      </p:sp>
      <p:sp>
        <p:nvSpPr>
          <p:cNvPr id="12" name="TextBox 11"/>
          <p:cNvSpPr txBox="1"/>
          <p:nvPr/>
        </p:nvSpPr>
        <p:spPr>
          <a:xfrm>
            <a:off x="6507327" y="2880360"/>
            <a:ext cx="4907127"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Mediadores principales: </a:t>
            </a:r>
            <a:r>
              <a:rPr sz="1400" b="0" lang="es-ES">
                <a:solidFill>
                  <a:srgbClr val="AABED7"/>
                </a:solidFill>
                <a:latin typeface="Calibri"/>
              </a:rPr>
              <a:t>Monoaminas (noradrenalina, serotonina, dopamina, histamina) y acetilcolina central.</a:t>
            </a:r>
          </a:p>
          <a:p>
            <a:pPr>
              <a:lnSpc>
                <a:spcPct val="108000"/>
              </a:lnSpc>
              <a:spcAft>
                <a:spcPts val="1050"/>
              </a:spcAft>
            </a:pPr>
            <a:r>
              <a:rPr sz="1400" b="1" lang="es-ES">
                <a:solidFill>
                  <a:srgbClr val="F0F4F8"/>
                </a:solidFill>
                <a:latin typeface="Calibri"/>
              </a:rPr>
              <a:t>Arquitectura de red: </a:t>
            </a:r>
            <a:r>
              <a:rPr sz="1400" b="0" lang="es-ES">
                <a:solidFill>
                  <a:srgbClr val="AABED7"/>
                </a:solidFill>
                <a:latin typeface="Calibri"/>
              </a:rPr>
              <a:t>Pocos miles de neuronas en núcleos del tronco y prosencéfalo basal (locus coeruleus, rafe, sustancia negra/ATV, núcleo basal de Meynert) con axones enormemente ramificados.</a:t>
            </a:r>
          </a:p>
          <a:p>
            <a:pPr>
              <a:lnSpc>
                <a:spcPct val="108000"/>
              </a:lnSpc>
              <a:spcAft>
                <a:spcPts val="1050"/>
              </a:spcAft>
            </a:pPr>
            <a:r>
              <a:rPr sz="1400" b="1" lang="es-ES">
                <a:solidFill>
                  <a:srgbClr val="F0F4F8"/>
                </a:solidFill>
                <a:latin typeface="Calibri"/>
              </a:rPr>
              <a:t>Modo de liberación: </a:t>
            </a:r>
            <a:r>
              <a:rPr sz="1400" b="0" lang="es-ES">
                <a:solidFill>
                  <a:srgbClr val="AABED7"/>
                </a:solidFill>
                <a:latin typeface="Calibri"/>
              </a:rPr>
              <a:t>Varicosidades axonales y transmisión de volumen sobre receptores mayoritariamente metabotrópicos.</a:t>
            </a:r>
          </a:p>
          <a:p>
            <a:pPr>
              <a:lnSpc>
                <a:spcPct val="108000"/>
              </a:lnSpc>
              <a:spcAft>
                <a:spcPts val="1050"/>
              </a:spcAft>
            </a:pPr>
            <a:r>
              <a:rPr sz="1400" b="1" lang="es-ES">
                <a:solidFill>
                  <a:srgbClr val="F0F4F8"/>
                </a:solidFill>
                <a:latin typeface="Calibri"/>
              </a:rPr>
              <a:t>Función de procesamiento: </a:t>
            </a:r>
            <a:r>
              <a:rPr sz="1400" b="0" lang="es-ES">
                <a:solidFill>
                  <a:srgbClr val="AABED7"/>
                </a:solidFill>
                <a:latin typeface="Calibri"/>
              </a:rPr>
              <a:t>Ajustan el «tono» global: vigilia, atención, ánimo, motivación y recompensa; dianas de antidepresivos y antipsicóticos.</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6 / 8</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F77F00"/>
                </a:solidFill>
                <a:latin typeface="Calibri"/>
              </a:rPr>
              <a:t>RESOLUCIÓN DEL CASO CLÍNICO</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Miastenia Gravis: Cuando Falla el Receptor Postsináptico</a:t>
            </a:r>
          </a:p>
        </p:txBody>
      </p:sp>
      <p:sp>
        <p:nvSpPr>
          <p:cNvPr id="4" name="Rectangle 3"/>
          <p:cNvSpPr/>
          <p:nvPr/>
        </p:nvSpPr>
        <p:spPr>
          <a:xfrm>
            <a:off x="548640" y="1536192"/>
            <a:ext cx="1280160" cy="45720"/>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3012338" cy="731520"/>
          </a:xfrm>
          <a:prstGeom prst="rect">
            <a:avLst/>
          </a:prstGeom>
          <a:noFill/>
        </p:spPr>
        <p:txBody>
          <a:bodyPr wrap="square" anchor="t" lIns="0" rIns="0" tIns="0" bIns="0">
            <a:spAutoFit/>
          </a:bodyPr>
          <a:lstStyle/>
          <a:p>
            <a:r>
              <a:rPr sz="1800" b="1" lang="es-ES">
                <a:solidFill>
                  <a:srgbClr val="F77F00"/>
                </a:solidFill>
                <a:latin typeface="Calibri"/>
              </a:rPr>
              <a:t>El Mecanismo Molecular</a:t>
            </a:r>
          </a:p>
        </p:txBody>
      </p:sp>
      <p:sp>
        <p:nvSpPr>
          <p:cNvPr id="8" name="TextBox 7"/>
          <p:cNvSpPr txBox="1"/>
          <p:nvPr/>
        </p:nvSpPr>
        <p:spPr>
          <a:xfrm>
            <a:off x="822960"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Diana autoinmune: </a:t>
            </a:r>
            <a:r>
              <a:rPr sz="1400" b="0" lang="es-ES">
                <a:solidFill>
                  <a:srgbClr val="AABED7"/>
                </a:solidFill>
                <a:latin typeface="Calibri"/>
              </a:rPr>
              <a:t>Anticuerpos contra el receptor nicotínico de ACh (≈85%) o contra MuSK/LRP4 en la placa motora.</a:t>
            </a:r>
          </a:p>
          <a:p>
            <a:pPr>
              <a:lnSpc>
                <a:spcPct val="108000"/>
              </a:lnSpc>
              <a:spcAft>
                <a:spcPts val="1050"/>
              </a:spcAft>
            </a:pPr>
            <a:r>
              <a:rPr sz="1400" b="1" lang="es-ES">
                <a:solidFill>
                  <a:srgbClr val="F0F4F8"/>
                </a:solidFill>
                <a:latin typeface="Calibri"/>
              </a:rPr>
              <a:t>Lesión: </a:t>
            </a:r>
            <a:r>
              <a:rPr sz="1400" b="0" lang="es-ES">
                <a:solidFill>
                  <a:srgbClr val="AABED7"/>
                </a:solidFill>
                <a:latin typeface="Calibri"/>
              </a:rPr>
              <a:t>Bloqueo, internalización acelerada y destrucción del receptor mediada por complemento; simplificación de los pliegues postsinápticos.</a:t>
            </a:r>
          </a:p>
          <a:p>
            <a:pPr>
              <a:lnSpc>
                <a:spcPct val="108000"/>
              </a:lnSpc>
              <a:spcAft>
                <a:spcPts val="1050"/>
              </a:spcAft>
            </a:pPr>
            <a:r>
              <a:rPr sz="1400" b="1" lang="es-ES">
                <a:solidFill>
                  <a:srgbClr val="F0F4F8"/>
                </a:solidFill>
                <a:latin typeface="Calibri"/>
              </a:rPr>
              <a:t>Consecuencia: </a:t>
            </a:r>
            <a:r>
              <a:rPr sz="1400" b="0" lang="es-ES">
                <a:solidFill>
                  <a:srgbClr val="AABED7"/>
                </a:solidFill>
                <a:latin typeface="Calibri"/>
              </a:rPr>
              <a:t>El potencial de placa reduce su amplitud y se pierde el factor de seguridad de la transmisión.</a:t>
            </a:r>
          </a:p>
        </p:txBody>
      </p:sp>
      <p:sp>
        <p:nvSpPr>
          <p:cNvPr id="9" name="Rounded Rectangle 8"/>
          <p:cNvSpPr/>
          <p:nvPr/>
        </p:nvSpPr>
        <p:spPr>
          <a:xfrm>
            <a:off x="4338218"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8218"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2538" y="2057400"/>
            <a:ext cx="3012338" cy="731520"/>
          </a:xfrm>
          <a:prstGeom prst="rect">
            <a:avLst/>
          </a:prstGeom>
          <a:noFill/>
        </p:spPr>
        <p:txBody>
          <a:bodyPr wrap="square" anchor="t" lIns="0" rIns="0" tIns="0" bIns="0">
            <a:spAutoFit/>
          </a:bodyPr>
          <a:lstStyle/>
          <a:p>
            <a:r>
              <a:rPr sz="1800" b="1" lang="es-ES">
                <a:solidFill>
                  <a:srgbClr val="00B4D8"/>
                </a:solidFill>
                <a:latin typeface="Calibri"/>
              </a:rPr>
              <a:t>Por Qué se Fatiga</a:t>
            </a:r>
          </a:p>
        </p:txBody>
      </p:sp>
      <p:sp>
        <p:nvSpPr>
          <p:cNvPr id="12" name="TextBox 11"/>
          <p:cNvSpPr txBox="1"/>
          <p:nvPr/>
        </p:nvSpPr>
        <p:spPr>
          <a:xfrm>
            <a:off x="4612538"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Depleción fisiológica: </a:t>
            </a:r>
            <a:r>
              <a:rPr sz="1400" b="0" lang="es-ES">
                <a:solidFill>
                  <a:srgbClr val="AABED7"/>
                </a:solidFill>
                <a:latin typeface="Calibri"/>
              </a:rPr>
              <a:t>Con la estimulación repetida, la ACh liberada por impulso disminuye de forma normal.</a:t>
            </a:r>
          </a:p>
          <a:p>
            <a:pPr>
              <a:lnSpc>
                <a:spcPct val="108000"/>
              </a:lnSpc>
              <a:spcAft>
                <a:spcPts val="1050"/>
              </a:spcAft>
            </a:pPr>
            <a:r>
              <a:rPr sz="1400" b="1" lang="es-ES">
                <a:solidFill>
                  <a:srgbClr val="F0F4F8"/>
                </a:solidFill>
                <a:latin typeface="Calibri"/>
              </a:rPr>
              <a:t>Sin margen: </a:t>
            </a:r>
            <a:r>
              <a:rPr sz="1400" b="0" lang="es-ES">
                <a:solidFill>
                  <a:srgbClr val="AABED7"/>
                </a:solidFill>
                <a:latin typeface="Calibri"/>
              </a:rPr>
              <a:t>Con menos receptores, el potencial de placa cae por debajo del umbral y fibras musculares dejan de responder.</a:t>
            </a:r>
          </a:p>
          <a:p>
            <a:pPr>
              <a:lnSpc>
                <a:spcPct val="108000"/>
              </a:lnSpc>
              <a:spcAft>
                <a:spcPts val="1050"/>
              </a:spcAft>
            </a:pPr>
            <a:r>
              <a:rPr sz="1400" b="1" lang="es-ES">
                <a:solidFill>
                  <a:srgbClr val="F0F4F8"/>
                </a:solidFill>
                <a:latin typeface="Calibri"/>
              </a:rPr>
              <a:t>Músculos oculares: </a:t>
            </a:r>
            <a:r>
              <a:rPr sz="1400" b="0" lang="es-ES">
                <a:solidFill>
                  <a:srgbClr val="AABED7"/>
                </a:solidFill>
                <a:latin typeface="Calibri"/>
              </a:rPr>
              <a:t>Su alta frecuencia de descarga y menor factor de seguridad explican la ptosis y la diplopía.</a:t>
            </a:r>
          </a:p>
        </p:txBody>
      </p:sp>
      <p:sp>
        <p:nvSpPr>
          <p:cNvPr id="13" name="Rounded Rectangle 12"/>
          <p:cNvSpPr/>
          <p:nvPr/>
        </p:nvSpPr>
        <p:spPr>
          <a:xfrm>
            <a:off x="8127796"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1938528"/>
            <a:ext cx="64008" cy="421538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2116" y="2057400"/>
            <a:ext cx="3012338" cy="731520"/>
          </a:xfrm>
          <a:prstGeom prst="rect">
            <a:avLst/>
          </a:prstGeom>
          <a:noFill/>
        </p:spPr>
        <p:txBody>
          <a:bodyPr wrap="square" anchor="t" lIns="0" rIns="0" tIns="0" bIns="0">
            <a:spAutoFit/>
          </a:bodyPr>
          <a:lstStyle/>
          <a:p>
            <a:r>
              <a:rPr sz="1800" b="1" lang="es-ES">
                <a:solidFill>
                  <a:srgbClr val="06D6A0"/>
                </a:solidFill>
                <a:latin typeface="Calibri"/>
              </a:rPr>
              <a:t>Confirmación y Tratamiento</a:t>
            </a:r>
          </a:p>
        </p:txBody>
      </p:sp>
      <p:sp>
        <p:nvSpPr>
          <p:cNvPr id="16" name="TextBox 15"/>
          <p:cNvSpPr txBox="1"/>
          <p:nvPr/>
        </p:nvSpPr>
        <p:spPr>
          <a:xfrm>
            <a:off x="8402116" y="2880360"/>
            <a:ext cx="3012338" cy="3200400"/>
          </a:xfrm>
          <a:prstGeom prst="rect">
            <a:avLst/>
          </a:prstGeom>
          <a:noFill/>
        </p:spPr>
        <p:txBody>
          <a:bodyPr wrap="square" lIns="0" rIns="0" tIns="0" bIns="0">
            <a:spAutoFit/>
          </a:bodyPr>
          <a:lstStyle/>
          <a:p>
            <a:pPr>
              <a:lnSpc>
                <a:spcPct val="108000"/>
              </a:lnSpc>
              <a:spcAft>
                <a:spcPts val="1050"/>
              </a:spcAft>
            </a:pPr>
            <a:r>
              <a:rPr sz="1400" b="1" lang="es-ES">
                <a:solidFill>
                  <a:srgbClr val="F0F4F8"/>
                </a:solidFill>
                <a:latin typeface="Calibri"/>
              </a:rPr>
              <a:t>Estimulación repetitiva (3 Hz): </a:t>
            </a:r>
            <a:r>
              <a:rPr sz="1400" b="0" lang="es-ES">
                <a:solidFill>
                  <a:srgbClr val="AABED7"/>
                </a:solidFill>
                <a:latin typeface="Calibri"/>
              </a:rPr>
              <a:t>Respuesta decremental &gt;10% del potencial de acción muscular compuesto.</a:t>
            </a:r>
          </a:p>
          <a:p>
            <a:pPr>
              <a:lnSpc>
                <a:spcPct val="108000"/>
              </a:lnSpc>
              <a:spcAft>
                <a:spcPts val="1050"/>
              </a:spcAft>
            </a:pPr>
            <a:r>
              <a:rPr sz="1400" b="1" lang="es-ES">
                <a:solidFill>
                  <a:srgbClr val="F0F4F8"/>
                </a:solidFill>
                <a:latin typeface="Calibri"/>
              </a:rPr>
              <a:t>EMG de fibra aislada: </a:t>
            </a:r>
            <a:r>
              <a:rPr sz="1400" b="0" lang="es-ES">
                <a:solidFill>
                  <a:srgbClr val="AABED7"/>
                </a:solidFill>
                <a:latin typeface="Calibri"/>
              </a:rPr>
              <a:t>Jitter aumentado y bloqueos de transmisión.</a:t>
            </a:r>
          </a:p>
          <a:p>
            <a:pPr>
              <a:lnSpc>
                <a:spcPct val="108000"/>
              </a:lnSpc>
              <a:spcAft>
                <a:spcPts val="1050"/>
              </a:spcAft>
            </a:pPr>
            <a:r>
              <a:rPr sz="1400" b="1" lang="es-ES">
                <a:solidFill>
                  <a:srgbClr val="F0F4F8"/>
                </a:solidFill>
                <a:latin typeface="Calibri"/>
              </a:rPr>
              <a:t>Tratamiento: </a:t>
            </a:r>
            <a:r>
              <a:rPr sz="1400" b="0" lang="es-ES">
                <a:solidFill>
                  <a:srgbClr val="AABED7"/>
                </a:solidFill>
                <a:latin typeface="Calibri"/>
              </a:rPr>
              <a:t>Inhibidores de acetilcolinesterasa (piridostigmina), inmunosupresión y timectomía cuando procede.</a:t>
            </a:r>
          </a:p>
        </p:txBody>
      </p:sp>
      <p:sp>
        <p:nvSpPr>
          <p:cNvPr id="17" name="TextBox 16"/>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7 / 8</a:t>
            </a:r>
          </a:p>
        </p:txBody>
      </p:sp>
      <p:sp>
        <p:nvSpPr>
          <p:cNvPr id="18" name="TextBox 17"/>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anchor="t" lIns="0" rIns="0" tIns="0" bIns="0">
            <a:spAutoFit/>
          </a:bodyPr>
          <a:lstStyle/>
          <a:p>
            <a:r>
              <a:rPr sz="1300" b="1" lang="es-ES">
                <a:solidFill>
                  <a:srgbClr val="00B4D8"/>
                </a:solidFill>
                <a:latin typeface="Calibri"/>
              </a:rPr>
              <a:t>SÍNTESIS INTEGRADORA</a:t>
            </a:r>
          </a:p>
        </p:txBody>
      </p:sp>
      <p:sp>
        <p:nvSpPr>
          <p:cNvPr id="3" name="TextBox 2"/>
          <p:cNvSpPr txBox="1"/>
          <p:nvPr/>
        </p:nvSpPr>
        <p:spPr>
          <a:xfrm>
            <a:off x="548640" y="731520"/>
            <a:ext cx="11094415" cy="731520"/>
          </a:xfrm>
          <a:prstGeom prst="rect">
            <a:avLst/>
          </a:prstGeom>
          <a:noFill/>
        </p:spPr>
        <p:txBody>
          <a:bodyPr wrap="square" anchor="ctr" lIns="0" rIns="0" tIns="0" bIns="0">
            <a:spAutoFit/>
          </a:bodyPr>
          <a:lstStyle/>
          <a:p>
            <a:r>
              <a:rPr sz="3000" b="1" lang="es-ES">
                <a:solidFill>
                  <a:srgbClr val="F0F4F8"/>
                </a:solidFill>
                <a:latin typeface="Calibri"/>
              </a:rPr>
              <a:t>Patología de la Placa Motora: Dónde Falla Cada Enfermedad</a:t>
            </a:r>
          </a:p>
        </p:txBody>
      </p:sp>
      <p:sp>
        <p:nvSpPr>
          <p:cNvPr id="4" name="Rectangle 3"/>
          <p:cNvSpPr/>
          <p:nvPr/>
        </p:nvSpPr>
        <p:spPr>
          <a:xfrm>
            <a:off x="548640" y="1536192"/>
            <a:ext cx="1280160" cy="4572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38528"/>
            <a:ext cx="64008" cy="421538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3012338" cy="731520"/>
          </a:xfrm>
          <a:prstGeom prst="rect">
            <a:avLst/>
          </a:prstGeom>
          <a:noFill/>
        </p:spPr>
        <p:txBody>
          <a:bodyPr wrap="square" anchor="t" lIns="0" rIns="0" tIns="0" bIns="0">
            <a:spAutoFit/>
          </a:bodyPr>
          <a:lstStyle/>
          <a:p>
            <a:r>
              <a:rPr sz="1800" b="1" lang="es-ES">
                <a:solidFill>
                  <a:srgbClr val="00B4D8"/>
                </a:solidFill>
                <a:latin typeface="Calibri"/>
              </a:rPr>
              <a:t>Miastenia Gravis (Postsináptica)</a:t>
            </a:r>
          </a:p>
        </p:txBody>
      </p:sp>
      <p:sp>
        <p:nvSpPr>
          <p:cNvPr id="8" name="TextBox 7"/>
          <p:cNvSpPr txBox="1"/>
          <p:nvPr/>
        </p:nvSpPr>
        <p:spPr>
          <a:xfrm>
            <a:off x="822960" y="2880360"/>
            <a:ext cx="3012338"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Diana: </a:t>
            </a:r>
            <a:r>
              <a:rPr sz="1500" b="0" lang="es-ES">
                <a:solidFill>
                  <a:srgbClr val="AABED7"/>
                </a:solidFill>
                <a:latin typeface="Calibri"/>
              </a:rPr>
              <a:t>Receptor nicotínico de ACh (autoanticuerpos).</a:t>
            </a:r>
          </a:p>
          <a:p>
            <a:pPr>
              <a:lnSpc>
                <a:spcPct val="108000"/>
              </a:lnSpc>
              <a:spcAft>
                <a:spcPts val="1125"/>
              </a:spcAft>
            </a:pPr>
            <a:r>
              <a:rPr sz="1500" b="1" lang="es-ES">
                <a:solidFill>
                  <a:srgbClr val="F0F4F8"/>
                </a:solidFill>
                <a:latin typeface="Calibri"/>
              </a:rPr>
              <a:t>Clínica: </a:t>
            </a:r>
            <a:r>
              <a:rPr sz="1500" b="0" lang="es-ES">
                <a:solidFill>
                  <a:srgbClr val="AABED7"/>
                </a:solidFill>
                <a:latin typeface="Calibri"/>
              </a:rPr>
              <a:t>Debilidad fatigable de predominio ocular y bulbar.</a:t>
            </a:r>
          </a:p>
          <a:p>
            <a:pPr>
              <a:lnSpc>
                <a:spcPct val="108000"/>
              </a:lnSpc>
              <a:spcAft>
                <a:spcPts val="1125"/>
              </a:spcAft>
            </a:pPr>
            <a:r>
              <a:rPr sz="1500" b="1" lang="es-ES">
                <a:solidFill>
                  <a:srgbClr val="F0F4F8"/>
                </a:solidFill>
                <a:latin typeface="Calibri"/>
              </a:rPr>
              <a:t>Estimulación repetitiva: </a:t>
            </a:r>
            <a:r>
              <a:rPr sz="1500" b="0" lang="es-ES">
                <a:solidFill>
                  <a:srgbClr val="AABED7"/>
                </a:solidFill>
                <a:latin typeface="Calibri"/>
              </a:rPr>
              <a:t>Decremento a baja frecuencia; sin incremento significativo tras el ejercicio.</a:t>
            </a:r>
          </a:p>
        </p:txBody>
      </p:sp>
      <p:sp>
        <p:nvSpPr>
          <p:cNvPr id="9" name="Rounded Rectangle 8"/>
          <p:cNvSpPr/>
          <p:nvPr/>
        </p:nvSpPr>
        <p:spPr>
          <a:xfrm>
            <a:off x="4338218"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8218" y="1938528"/>
            <a:ext cx="64008" cy="4215384"/>
          </a:xfrm>
          <a:prstGeom prst="rect">
            <a:avLst/>
          </a:prstGeom>
          <a:solidFill>
            <a:srgbClr val="A37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2538" y="2057400"/>
            <a:ext cx="3012338" cy="731520"/>
          </a:xfrm>
          <a:prstGeom prst="rect">
            <a:avLst/>
          </a:prstGeom>
          <a:noFill/>
        </p:spPr>
        <p:txBody>
          <a:bodyPr wrap="square" anchor="t" lIns="0" rIns="0" tIns="0" bIns="0">
            <a:spAutoFit/>
          </a:bodyPr>
          <a:lstStyle/>
          <a:p>
            <a:r>
              <a:rPr sz="1800" b="1" lang="es-ES">
                <a:solidFill>
                  <a:srgbClr val="A374FF"/>
                </a:solidFill>
                <a:latin typeface="Calibri"/>
              </a:rPr>
              <a:t>Síndrome de Lambert-Eaton (Presináptico)</a:t>
            </a:r>
          </a:p>
        </p:txBody>
      </p:sp>
      <p:sp>
        <p:nvSpPr>
          <p:cNvPr id="12" name="TextBox 11"/>
          <p:cNvSpPr txBox="1"/>
          <p:nvPr/>
        </p:nvSpPr>
        <p:spPr>
          <a:xfrm>
            <a:off x="4612538" y="2880360"/>
            <a:ext cx="3012338"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Diana: </a:t>
            </a:r>
            <a:r>
              <a:rPr sz="1500" b="0" lang="es-ES">
                <a:solidFill>
                  <a:srgbClr val="AABED7"/>
                </a:solidFill>
                <a:latin typeface="Calibri"/>
              </a:rPr>
              <a:t>Canales de Ca2+ voltaje-dependientes tipo P/Q; frecuente asociación paraneoplásica (carcinoma microcítico).</a:t>
            </a:r>
          </a:p>
          <a:p>
            <a:pPr>
              <a:lnSpc>
                <a:spcPct val="108000"/>
              </a:lnSpc>
              <a:spcAft>
                <a:spcPts val="1125"/>
              </a:spcAft>
            </a:pPr>
            <a:r>
              <a:rPr sz="1500" b="1" lang="es-ES">
                <a:solidFill>
                  <a:srgbClr val="F0F4F8"/>
                </a:solidFill>
                <a:latin typeface="Calibri"/>
              </a:rPr>
              <a:t>Clínica: </a:t>
            </a:r>
            <a:r>
              <a:rPr sz="1500" b="0" lang="es-ES">
                <a:solidFill>
                  <a:srgbClr val="AABED7"/>
                </a:solidFill>
                <a:latin typeface="Calibri"/>
              </a:rPr>
              <a:t>Debilidad proximal, arreflexia y disautonomía; mejora transitoria con el esfuerzo.</a:t>
            </a:r>
          </a:p>
          <a:p>
            <a:pPr>
              <a:lnSpc>
                <a:spcPct val="108000"/>
              </a:lnSpc>
              <a:spcAft>
                <a:spcPts val="1125"/>
              </a:spcAft>
            </a:pPr>
            <a:r>
              <a:rPr sz="1500" b="1" lang="es-ES">
                <a:solidFill>
                  <a:srgbClr val="F0F4F8"/>
                </a:solidFill>
                <a:latin typeface="Calibri"/>
              </a:rPr>
              <a:t>Estimulación repetitiva: </a:t>
            </a:r>
            <a:r>
              <a:rPr sz="1500" b="0" lang="es-ES">
                <a:solidFill>
                  <a:srgbClr val="AABED7"/>
                </a:solidFill>
                <a:latin typeface="Calibri"/>
              </a:rPr>
              <a:t>PAMC basal bajo con incremento &gt;100% a alta frecuencia o tras ejercicio breve.</a:t>
            </a:r>
          </a:p>
        </p:txBody>
      </p:sp>
      <p:sp>
        <p:nvSpPr>
          <p:cNvPr id="13" name="Rounded Rectangle 12"/>
          <p:cNvSpPr/>
          <p:nvPr/>
        </p:nvSpPr>
        <p:spPr>
          <a:xfrm>
            <a:off x="8127796" y="1828800"/>
            <a:ext cx="3515258" cy="4434840"/>
          </a:xfrm>
          <a:prstGeom prst="roundRect">
            <a:avLst>
              <a:gd name="adj" fmla="val 4000"/>
            </a:avLst>
          </a:prstGeom>
          <a:solidFill>
            <a:srgbClr val="132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1938528"/>
            <a:ext cx="64008" cy="4215384"/>
          </a:xfrm>
          <a:prstGeom prst="rect">
            <a:avLst/>
          </a:prstGeom>
          <a:solidFill>
            <a:srgbClr val="F7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2116" y="2057400"/>
            <a:ext cx="3012338" cy="731520"/>
          </a:xfrm>
          <a:prstGeom prst="rect">
            <a:avLst/>
          </a:prstGeom>
          <a:noFill/>
        </p:spPr>
        <p:txBody>
          <a:bodyPr wrap="square" anchor="t" lIns="0" rIns="0" tIns="0" bIns="0">
            <a:spAutoFit/>
          </a:bodyPr>
          <a:lstStyle/>
          <a:p>
            <a:r>
              <a:rPr sz="1800" b="1" lang="es-ES">
                <a:solidFill>
                  <a:srgbClr val="F77F00"/>
                </a:solidFill>
                <a:latin typeface="Calibri"/>
              </a:rPr>
              <a:t>Botulismo (Presináptico)</a:t>
            </a:r>
          </a:p>
        </p:txBody>
      </p:sp>
      <p:sp>
        <p:nvSpPr>
          <p:cNvPr id="16" name="TextBox 15"/>
          <p:cNvSpPr txBox="1"/>
          <p:nvPr/>
        </p:nvSpPr>
        <p:spPr>
          <a:xfrm>
            <a:off x="8402116" y="2880360"/>
            <a:ext cx="3012338" cy="3200400"/>
          </a:xfrm>
          <a:prstGeom prst="rect">
            <a:avLst/>
          </a:prstGeom>
          <a:noFill/>
        </p:spPr>
        <p:txBody>
          <a:bodyPr wrap="square" lIns="0" rIns="0" tIns="0" bIns="0">
            <a:spAutoFit/>
          </a:bodyPr>
          <a:lstStyle/>
          <a:p>
            <a:pPr>
              <a:lnSpc>
                <a:spcPct val="108000"/>
              </a:lnSpc>
              <a:spcAft>
                <a:spcPts val="1125"/>
              </a:spcAft>
            </a:pPr>
            <a:r>
              <a:rPr sz="1500" b="1" lang="es-ES">
                <a:solidFill>
                  <a:srgbClr val="F0F4F8"/>
                </a:solidFill>
                <a:latin typeface="Calibri"/>
              </a:rPr>
              <a:t>Diana: </a:t>
            </a:r>
            <a:r>
              <a:rPr sz="1500" b="0" lang="es-ES">
                <a:solidFill>
                  <a:srgbClr val="AABED7"/>
                </a:solidFill>
                <a:latin typeface="Calibri"/>
              </a:rPr>
              <a:t>Proteínas SNARE escindidas por la toxina botulínica.</a:t>
            </a:r>
          </a:p>
          <a:p>
            <a:pPr>
              <a:lnSpc>
                <a:spcPct val="108000"/>
              </a:lnSpc>
              <a:spcAft>
                <a:spcPts val="1125"/>
              </a:spcAft>
            </a:pPr>
            <a:r>
              <a:rPr sz="1500" b="1" lang="es-ES">
                <a:solidFill>
                  <a:srgbClr val="F0F4F8"/>
                </a:solidFill>
                <a:latin typeface="Calibri"/>
              </a:rPr>
              <a:t>Clínica: </a:t>
            </a:r>
            <a:r>
              <a:rPr sz="1500" b="0" lang="es-ES">
                <a:solidFill>
                  <a:srgbClr val="AABED7"/>
                </a:solidFill>
                <a:latin typeface="Calibri"/>
              </a:rPr>
              <a:t>Parálisis flácida descendente con afectación de pares craneales y pupilas midriáticas.</a:t>
            </a:r>
          </a:p>
          <a:p>
            <a:pPr>
              <a:lnSpc>
                <a:spcPct val="108000"/>
              </a:lnSpc>
              <a:spcAft>
                <a:spcPts val="1125"/>
              </a:spcAft>
            </a:pPr>
            <a:r>
              <a:rPr sz="1500" b="1" lang="es-ES">
                <a:solidFill>
                  <a:srgbClr val="F0F4F8"/>
                </a:solidFill>
                <a:latin typeface="Calibri"/>
              </a:rPr>
              <a:t>Estimulación repetitiva: </a:t>
            </a:r>
            <a:r>
              <a:rPr sz="1500" b="0" lang="es-ES">
                <a:solidFill>
                  <a:srgbClr val="AABED7"/>
                </a:solidFill>
                <a:latin typeface="Calibri"/>
              </a:rPr>
              <a:t>PAMC bajo con incremento moderado a alta frecuencia.</a:t>
            </a:r>
          </a:p>
        </p:txBody>
      </p:sp>
      <p:sp>
        <p:nvSpPr>
          <p:cNvPr id="17" name="TextBox 16"/>
          <p:cNvSpPr txBox="1"/>
          <p:nvPr/>
        </p:nvSpPr>
        <p:spPr>
          <a:xfrm>
            <a:off x="9814255" y="6446520"/>
            <a:ext cx="1828800" cy="274320"/>
          </a:xfrm>
          <a:prstGeom prst="rect">
            <a:avLst/>
          </a:prstGeom>
          <a:noFill/>
        </p:spPr>
        <p:txBody>
          <a:bodyPr wrap="square" anchor="t" lIns="0" rIns="0" tIns="0" bIns="0">
            <a:spAutoFit/>
          </a:bodyPr>
          <a:lstStyle/>
          <a:p>
            <a:pPr algn="r"/>
            <a:r>
              <a:rPr sz="1100" b="0" lang="es-ES">
                <a:solidFill>
                  <a:srgbClr val="AABED7"/>
                </a:solidFill>
                <a:latin typeface="Calibri"/>
              </a:rPr>
              <a:t>8 / 8</a:t>
            </a:r>
          </a:p>
        </p:txBody>
      </p:sp>
      <p:sp>
        <p:nvSpPr>
          <p:cNvPr id="18" name="TextBox 17"/>
          <p:cNvSpPr txBox="1"/>
          <p:nvPr/>
        </p:nvSpPr>
        <p:spPr>
          <a:xfrm>
            <a:off x="548640" y="6446520"/>
            <a:ext cx="5486400" cy="274320"/>
          </a:xfrm>
          <a:prstGeom prst="rect">
            <a:avLst/>
          </a:prstGeom>
          <a:noFill/>
        </p:spPr>
        <p:txBody>
          <a:bodyPr wrap="square" anchor="t" lIns="0" rIns="0" tIns="0" bIns="0">
            <a:spAutoFit/>
          </a:bodyPr>
          <a:lstStyle/>
          <a:p>
            <a:r>
              <a:rPr sz="1100" b="0" lang="es-ES">
                <a:solidFill>
                  <a:srgbClr val="AABED7"/>
                </a:solidFill>
                <a:latin typeface="Calibri"/>
              </a:rPr>
              <a:t>Neurotransmisión sináptica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