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Bienvenidos. Hoy abordaremos la neurotransmisión sináptica integrando la biofísica de canales y receptores directamente con la deducción diagnóstica. Nuestro objetivo es responder qué sucede a nivel molecular cuando una paciente joven comienza a claudicar físicamente con el uso repetitivo.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Iniciamos con una paciente de 28 años sin antecedentes relevantes. Consulta por debilidad fluctuante que empeora en la tarde. Al fijar la mirada hacia arriba presenta caída palpebral y visión doble. Al descansar, recupera la fuerza. Noten que la sensibilidad y los reflejos osteotendinosos están íntegros, lo cual descarta una neuropatía sensorial o motora básica. La gran interrogante: ¿falla el cable conductor, el motor de la fibra muscular, o la interfaz química en la placa motora?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sinapsis eléctrica conecta citoplasmas mediante conexinas; no hay retardo y permite sincronizar poblaciones enteras al unísono. La sinapsis química introduce una distancia física que impone un retardo fisiológico por exocitosis y difusión. No obstante, a cambio de unos milisegundos ganamos plasticidad, computación de señal, modulación graduada y sitios de intervención médica y farmacológica.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ciclo consta de 5 fases universales. El empaquetamiento requiere gradientes de protones generados activamente por ATPasas. La liberación es estrictamente calcio-dependiente. La inactivación es obligatoria: si el neurotransmisor persistiera indefinidamente en la hendidura, provocaría la desensibilización del receptor o toxicidad celular.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 fusionar dos bicapas lipídicas con cargas negativas se requiere el motor SNARE. La sinaptobrevina vesicular se trenza con SNAP-25 y sintaxina. La sinaptotagmina sujeta el complejo hasta que detecta el ion calcio. Noten el contraste clínico: el botulismo paraliza por falta de acetilcolina en la unión muscular; el tétanos produce espasmos severos porque inhibe a las interneuronas inhibidoras del asta anterior medular.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Los ionotrópicos forman el propio poro iónico y responden de inmediato. Los metabotrópicos amplifican la señal mediante segundos mensajeros y cascadas de fosforilación intracelular. En la terminal presináptica, los autorreceptores actúan como termostatos para impedir la depleción y toxicidad por exceso de neurotransmisor.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sistema cableado opera como fibra óptica: conexiones punto a punto milimétricas mediadas por aminoácidos neurotransmisores. Los sistemas de radiación difusa son como antenas de radio: pocos somas en el tronco encefálico modulan redes enteras mediante transmisión de volumen sobre receptores metabotrópicos, regulando el estado cerebral general.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Resolución del caso: la paciente tiene Miastenia Gravis. Sus anticuerpos destruyen receptores nicotínicos postsinápticos. Normalmente liberamos suficiente acetilcolina para superar con holgura el umbral; esto se llama 'factor de seguridad'. Al reducirse los receptores, con cada estímulo consecutivo la depleción fisiológica normal deja de alcanzar el umbral, provocando el bloqueo y la fatigabilidad vespertina. La piridostigmina compensa esto evitando la degradación de la poca ACh disponible.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Esta tabla resume el razonamiento clínico diferencial. Si la falla es postsináptica (Miastenia), hay decremento con el uso. Si es presináptica por bloqueo de canales de calcio (Lambert-Eaton), la estimulación repetida acumula calcio y facilita transitoriamente la respuesta (incremento patognomónico). Si las proteínas SNARE son escindidas (Botulismo), la exocitosis se anula de forma aguda.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9125" y="2453640"/>
            <a:ext cx="10953750" cy="533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 i="0" lang="es-ES">
                <a:solidFill>
                  <a:srgbClr val="38BDF8"/>
                </a:solidFill>
                <a:latin typeface="Segoe UI"/>
              </a:rPr>
              <a:t>Neurotransmisión Sináptica</a:t>
            </a:r>
          </a:p>
        </p:txBody>
      </p:sp>
      <p:sp>
        <p:nvSpPr>
          <p:cNvPr id="3" name="Rectangle 2"/>
          <p:cNvSpPr/>
          <p:nvPr/>
        </p:nvSpPr>
        <p:spPr>
          <a:xfrm>
            <a:off x="619125" y="3025140"/>
            <a:ext cx="10953750" cy="1905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9125" y="3177540"/>
            <a:ext cx="1095375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950" b="0" i="0" lang="es-ES">
                <a:solidFill>
                  <a:srgbClr val="94A3B8"/>
                </a:solidFill>
                <a:latin typeface="Segoe UI"/>
              </a:rPr>
              <a:t>Fisiopatología, Biofísica y Resolución Clínica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9125" y="3768090"/>
            <a:ext cx="10953750" cy="7124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80"/>
              </a:spcAft>
            </a:pPr>
            <a:r>
              <a:rPr sz="1800" b="1" i="0" lang="es-ES">
                <a:solidFill>
                  <a:srgbClr val="E2E8F0"/>
                </a:solidFill>
                <a:latin typeface="Segoe UI"/>
              </a:rPr>
              <a:t>Módulo:</a:t>
            </a:r>
            <a:r>
              <a:rPr sz="1800" b="0" i="0" lang="es-ES">
                <a:solidFill>
                  <a:srgbClr val="E2E8F0"/>
                </a:solidFill>
                <a:latin typeface="Segoe UI"/>
              </a:rPr>
              <a:t> Neurofisiología Médica</a:t>
            </a:r>
          </a:p>
          <a:p>
            <a:pPr algn="l">
              <a:lnSpc>
                <a:spcPct val="110000"/>
              </a:lnSpc>
            </a:pPr>
            <a:r>
              <a:rPr sz="1800" b="0" i="1" lang="es-ES">
                <a:solidFill>
                  <a:srgbClr val="E2E8F0"/>
                </a:solidFill>
                <a:latin typeface="Segoe UI"/>
              </a:rPr>
              <a:t>Estudio interactivo de la placa motora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1375" y="6534150"/>
            <a:ext cx="5715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200" b="0" i="0" lang="es-ES">
                <a:solidFill>
                  <a:srgbClr val="94A3B8"/>
                </a:solidFill>
                <a:latin typeface="Segoe U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9125" y="428625"/>
            <a:ext cx="10953750" cy="533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 i="0" lang="es-ES">
                <a:solidFill>
                  <a:srgbClr val="38BDF8"/>
                </a:solidFill>
                <a:latin typeface="Segoe UI"/>
              </a:rPr>
              <a:t>1. Caso Clínico Inicial</a:t>
            </a:r>
          </a:p>
        </p:txBody>
      </p:sp>
      <p:sp>
        <p:nvSpPr>
          <p:cNvPr id="3" name="Rectangle 2"/>
          <p:cNvSpPr/>
          <p:nvPr/>
        </p:nvSpPr>
        <p:spPr>
          <a:xfrm>
            <a:off x="619125" y="1000125"/>
            <a:ext cx="10953750" cy="1905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9125" y="1152525"/>
            <a:ext cx="1095375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950" b="0" i="0" lang="es-ES">
                <a:solidFill>
                  <a:srgbClr val="94A3B8"/>
                </a:solidFill>
                <a:latin typeface="Segoe UI"/>
              </a:rPr>
              <a:t>La paciente que se cansa de mirar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9125" y="1695450"/>
            <a:ext cx="5362575" cy="3491865"/>
          </a:xfrm>
          <a:prstGeom prst="roundRect">
            <a:avLst>
              <a:gd name="adj" fmla="val 3273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8675" y="1866900"/>
            <a:ext cx="2228850" cy="266700"/>
          </a:xfrm>
          <a:prstGeom prst="roundRect">
            <a:avLst>
              <a:gd name="adj" fmla="val 21428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200" b="1" i="0" lang="es-ES">
                <a:solidFill>
                  <a:srgbClr val="FFFFFF"/>
                </a:solidFill>
                <a:latin typeface="Segoe UI"/>
              </a:rPr>
              <a:t>HALLAZGOS CARDINALES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8675" y="2228850"/>
            <a:ext cx="4943475" cy="284416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944"/>
              </a:spcAft>
            </a:pPr>
            <a:r>
              <a:rPr sz="2100" b="0" i="0" lang="es-ES">
                <a:solidFill>
                  <a:srgbClr val="E2E8F0"/>
                </a:solidFill>
                <a:latin typeface="Segoe UI"/>
              </a:rPr>
              <a:t>• </a:t>
            </a:r>
            <a:r>
              <a:rPr sz="2100" b="1" i="0" lang="es-ES">
                <a:solidFill>
                  <a:srgbClr val="E2E8F0"/>
                </a:solidFill>
                <a:latin typeface="Segoe UI"/>
              </a:rPr>
              <a:t>Perfil:</a:t>
            </a:r>
            <a:r>
              <a:rPr sz="2100" b="0" i="0" lang="es-ES">
                <a:solidFill>
                  <a:srgbClr val="E2E8F0"/>
                </a:solidFill>
                <a:latin typeface="Segoe UI"/>
              </a:rPr>
              <a:t> Mujer, 28 años.</a:t>
            </a:r>
          </a:p>
          <a:p>
            <a:pPr algn="l">
              <a:lnSpc>
                <a:spcPct val="110000"/>
              </a:lnSpc>
              <a:spcAft>
                <a:spcPts val="944"/>
              </a:spcAft>
            </a:pPr>
            <a:r>
              <a:rPr sz="2100" b="0" i="0" lang="es-ES">
                <a:solidFill>
                  <a:srgbClr val="E2E8F0"/>
                </a:solidFill>
                <a:latin typeface="Segoe UI"/>
              </a:rPr>
              <a:t>• </a:t>
            </a:r>
            <a:r>
              <a:rPr sz="2100" b="1" i="0" lang="es-ES">
                <a:solidFill>
                  <a:srgbClr val="E2E8F0"/>
                </a:solidFill>
                <a:latin typeface="Segoe UI"/>
              </a:rPr>
              <a:t>Patrón:</a:t>
            </a:r>
            <a:r>
              <a:rPr sz="2100" b="0" i="0" lang="es-ES">
                <a:solidFill>
                  <a:srgbClr val="E2E8F0"/>
                </a:solidFill>
                <a:latin typeface="Segoe UI"/>
              </a:rPr>
              <a:t> Ptosis y diplopía vespertina.</a:t>
            </a:r>
          </a:p>
          <a:p>
            <a:pPr algn="l">
              <a:lnSpc>
                <a:spcPct val="110000"/>
              </a:lnSpc>
              <a:spcAft>
                <a:spcPts val="944"/>
              </a:spcAft>
            </a:pPr>
            <a:r>
              <a:rPr sz="2100" b="0" i="0" lang="es-ES">
                <a:solidFill>
                  <a:srgbClr val="E2E8F0"/>
                </a:solidFill>
                <a:latin typeface="Segoe UI"/>
              </a:rPr>
              <a:t>• </a:t>
            </a:r>
            <a:r>
              <a:rPr sz="2100" b="1" i="0" lang="es-ES">
                <a:solidFill>
                  <a:srgbClr val="E2E8F0"/>
                </a:solidFill>
                <a:latin typeface="Segoe UI"/>
              </a:rPr>
              <a:t>Signo clave:</a:t>
            </a:r>
            <a:r>
              <a:rPr sz="2100" b="0" i="0" lang="es-ES">
                <a:solidFill>
                  <a:srgbClr val="E2E8F0"/>
                </a:solidFill>
                <a:latin typeface="Segoe UI"/>
              </a:rPr>
              <a:t> Fatiga tras uso repetido; alivio en reposo.</a:t>
            </a:r>
          </a:p>
          <a:p>
            <a:pPr algn="l">
              <a:lnSpc>
                <a:spcPct val="110000"/>
              </a:lnSpc>
            </a:pPr>
            <a:r>
              <a:rPr sz="2100" b="0" i="0" lang="es-ES">
                <a:solidFill>
                  <a:srgbClr val="E2E8F0"/>
                </a:solidFill>
                <a:latin typeface="Segoe UI"/>
              </a:rPr>
              <a:t>• </a:t>
            </a:r>
            <a:r>
              <a:rPr sz="2100" b="1" i="0" lang="es-ES">
                <a:solidFill>
                  <a:srgbClr val="E2E8F0"/>
                </a:solidFill>
                <a:latin typeface="Segoe UI"/>
              </a:rPr>
              <a:t>Examen:</a:t>
            </a:r>
            <a:r>
              <a:rPr sz="2100" b="0" i="0" lang="es-ES">
                <a:solidFill>
                  <a:srgbClr val="E2E8F0"/>
                </a:solidFill>
                <a:latin typeface="Segoe UI"/>
              </a:rPr>
              <a:t> Reflejos y sensibilidad 100% conservados.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0300" y="1695450"/>
            <a:ext cx="5362575" cy="3491865"/>
          </a:xfrm>
          <a:prstGeom prst="roundRect">
            <a:avLst>
              <a:gd name="adj" fmla="val 3273"/>
            </a:avLst>
          </a:prstGeom>
          <a:solidFill>
            <a:srgbClr val="1E293B"/>
          </a:solidFill>
          <a:ln w="1905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19850" y="1866900"/>
            <a:ext cx="1828800" cy="266700"/>
          </a:xfrm>
          <a:prstGeom prst="roundRect">
            <a:avLst>
              <a:gd name="adj" fmla="val 21428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200" b="1" i="0" lang="es-ES">
                <a:solidFill>
                  <a:srgbClr val="FFFFFF"/>
                </a:solidFill>
                <a:latin typeface="Segoe UI"/>
              </a:rPr>
              <a:t>PREGUNTA CENTRAL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19850" y="2228850"/>
            <a:ext cx="4943475" cy="284416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944"/>
              </a:spcAft>
            </a:pPr>
            <a:r>
              <a:rPr sz="2100" b="1" i="0" lang="es-ES">
                <a:solidFill>
                  <a:srgbClr val="E2E8F0"/>
                </a:solidFill>
                <a:latin typeface="Segoe UI"/>
              </a:rPr>
              <a:t>¿Dónde radica la falla primaria?</a:t>
            </a:r>
          </a:p>
          <a:p>
            <a:pPr algn="l">
              <a:lnSpc>
                <a:spcPct val="110000"/>
              </a:lnSpc>
              <a:spcAft>
                <a:spcPts val="944"/>
              </a:spcAft>
            </a:pPr>
            <a:r>
              <a:rPr sz="2100" b="0" i="0" lang="es-ES">
                <a:solidFill>
                  <a:srgbClr val="E2E8F0"/>
                </a:solidFill>
                <a:latin typeface="Segoe UI"/>
              </a:rPr>
              <a:t>⚡ </a:t>
            </a:r>
            <a:r>
              <a:rPr sz="2100" b="1" i="0" lang="es-ES">
                <a:solidFill>
                  <a:srgbClr val="E2E8F0"/>
                </a:solidFill>
                <a:latin typeface="Segoe UI"/>
              </a:rPr>
              <a:t>¿El Cable?</a:t>
            </a:r>
            <a:r>
              <a:rPr sz="2100" b="0" i="0" lang="es-ES">
                <a:solidFill>
                  <a:srgbClr val="E2E8F0"/>
                </a:solidFill>
                <a:latin typeface="Segoe UI"/>
              </a:rPr>
              <a:t> (Axón / Conducción)</a:t>
            </a:r>
          </a:p>
          <a:p>
            <a:pPr algn="l">
              <a:lnSpc>
                <a:spcPct val="110000"/>
              </a:lnSpc>
              <a:spcAft>
                <a:spcPts val="944"/>
              </a:spcAft>
            </a:pPr>
            <a:r>
              <a:rPr sz="2100" b="0" i="0" lang="es-ES">
                <a:solidFill>
                  <a:srgbClr val="E2E8F0"/>
                </a:solidFill>
                <a:latin typeface="Segoe UI"/>
              </a:rPr>
              <a:t>🔄 </a:t>
            </a:r>
            <a:r>
              <a:rPr sz="2100" b="1" i="0" lang="es-ES">
                <a:solidFill>
                  <a:srgbClr val="E2E8F0"/>
                </a:solidFill>
                <a:latin typeface="Segoe UI"/>
              </a:rPr>
              <a:t>¿La Interfaz?</a:t>
            </a:r>
            <a:r>
              <a:rPr sz="2100" b="0" i="0" lang="es-ES">
                <a:solidFill>
                  <a:srgbClr val="E2E8F0"/>
                </a:solidFill>
                <a:latin typeface="Segoe UI"/>
              </a:rPr>
              <a:t> (Sinapsis / Placa Motora)</a:t>
            </a:r>
          </a:p>
          <a:p>
            <a:pPr algn="l">
              <a:lnSpc>
                <a:spcPct val="110000"/>
              </a:lnSpc>
            </a:pPr>
            <a:r>
              <a:rPr sz="2100" b="0" i="0" lang="es-ES">
                <a:solidFill>
                  <a:srgbClr val="E2E8F0"/>
                </a:solidFill>
                <a:latin typeface="Segoe UI"/>
              </a:rPr>
              <a:t>⚙️ </a:t>
            </a:r>
            <a:r>
              <a:rPr sz="2100" b="1" i="0" lang="es-ES">
                <a:solidFill>
                  <a:srgbClr val="E2E8F0"/>
                </a:solidFill>
                <a:latin typeface="Segoe UI"/>
              </a:rPr>
              <a:t>¿El Motor?</a:t>
            </a:r>
            <a:r>
              <a:rPr sz="2100" b="0" i="0" lang="es-ES">
                <a:solidFill>
                  <a:srgbClr val="E2E8F0"/>
                </a:solidFill>
                <a:latin typeface="Segoe UI"/>
              </a:rPr>
              <a:t> (Fibra muscular / Actina-Miosina)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1375" y="6534150"/>
            <a:ext cx="5715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200" b="0" i="0" lang="es-ES">
                <a:solidFill>
                  <a:srgbClr val="94A3B8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9125" y="428625"/>
            <a:ext cx="10953750" cy="533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 i="0" lang="es-ES">
                <a:solidFill>
                  <a:srgbClr val="38BDF8"/>
                </a:solidFill>
                <a:latin typeface="Segoe UI"/>
              </a:rPr>
              <a:t>2. Infraestructura</a:t>
            </a:r>
          </a:p>
        </p:txBody>
      </p:sp>
      <p:sp>
        <p:nvSpPr>
          <p:cNvPr id="3" name="Rectangle 2"/>
          <p:cNvSpPr/>
          <p:nvPr/>
        </p:nvSpPr>
        <p:spPr>
          <a:xfrm>
            <a:off x="619125" y="1000125"/>
            <a:ext cx="10953750" cy="1905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9125" y="1152525"/>
            <a:ext cx="1095375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950" b="0" i="0" lang="es-ES">
                <a:solidFill>
                  <a:srgbClr val="94A3B8"/>
                </a:solidFill>
                <a:latin typeface="Segoe UI"/>
              </a:rPr>
              <a:t>Sinapsis Eléctrica vs. Sinapsis Química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9125" y="1695450"/>
            <a:ext cx="5362575" cy="3838575"/>
          </a:xfrm>
          <a:prstGeom prst="roundRect">
            <a:avLst>
              <a:gd name="adj" fmla="val 2977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8675" y="1866900"/>
            <a:ext cx="3228975" cy="266700"/>
          </a:xfrm>
          <a:prstGeom prst="roundRect">
            <a:avLst>
              <a:gd name="adj" fmla="val 21428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200" b="1" i="0" lang="es-ES">
                <a:solidFill>
                  <a:srgbClr val="FFFFFF"/>
                </a:solidFill>
                <a:latin typeface="Segoe UI"/>
              </a:rPr>
              <a:t>SINAPSIS ELÉCTRICA (EL PUENTE)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8675" y="2228850"/>
            <a:ext cx="4943475" cy="31908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944"/>
              </a:spcAft>
            </a:pPr>
            <a:r>
              <a:rPr sz="2100" b="0" i="0" lang="es-ES">
                <a:solidFill>
                  <a:srgbClr val="E2E8F0"/>
                </a:solidFill>
                <a:latin typeface="Segoe UI"/>
              </a:rPr>
              <a:t>• </a:t>
            </a:r>
            <a:r>
              <a:rPr sz="2100" b="1" i="0" lang="es-ES">
                <a:solidFill>
                  <a:srgbClr val="E2E8F0"/>
                </a:solidFill>
                <a:latin typeface="Segoe UI"/>
              </a:rPr>
              <a:t>Estructura:</a:t>
            </a:r>
            <a:r>
              <a:rPr sz="2100" b="0" i="0" lang="es-ES">
                <a:solidFill>
                  <a:srgbClr val="E2E8F0"/>
                </a:solidFill>
                <a:latin typeface="Segoe UI"/>
              </a:rPr>
              <a:t> Uniones gap (conexones).</a:t>
            </a:r>
          </a:p>
          <a:p>
            <a:pPr algn="l">
              <a:lnSpc>
                <a:spcPct val="110000"/>
              </a:lnSpc>
              <a:spcAft>
                <a:spcPts val="944"/>
              </a:spcAft>
            </a:pPr>
            <a:r>
              <a:rPr sz="2100" b="0" i="0" lang="es-ES">
                <a:solidFill>
                  <a:srgbClr val="E2E8F0"/>
                </a:solidFill>
                <a:latin typeface="Segoe UI"/>
              </a:rPr>
              <a:t>• </a:t>
            </a:r>
            <a:r>
              <a:rPr sz="2100" b="1" i="0" lang="es-ES">
                <a:solidFill>
                  <a:srgbClr val="E2E8F0"/>
                </a:solidFill>
                <a:latin typeface="Segoe UI"/>
              </a:rPr>
              <a:t>Cinética:</a:t>
            </a:r>
            <a:r>
              <a:rPr sz="2100" b="0" i="0" lang="es-ES">
                <a:solidFill>
                  <a:srgbClr val="E2E8F0"/>
                </a:solidFill>
                <a:latin typeface="Segoe UI"/>
              </a:rPr>
              <a:t> Instantánea (~0.2 ms).</a:t>
            </a:r>
          </a:p>
          <a:p>
            <a:pPr algn="l">
              <a:lnSpc>
                <a:spcPct val="110000"/>
              </a:lnSpc>
              <a:spcAft>
                <a:spcPts val="944"/>
              </a:spcAft>
            </a:pPr>
            <a:r>
              <a:rPr sz="2100" b="0" i="0" lang="es-ES">
                <a:solidFill>
                  <a:srgbClr val="E2E8F0"/>
                </a:solidFill>
                <a:latin typeface="Segoe UI"/>
              </a:rPr>
              <a:t>• </a:t>
            </a:r>
            <a:r>
              <a:rPr sz="2100" b="1" i="0" lang="es-ES">
                <a:solidFill>
                  <a:srgbClr val="E2E8F0"/>
                </a:solidFill>
                <a:latin typeface="Segoe UI"/>
              </a:rPr>
              <a:t>Flujo:</a:t>
            </a:r>
            <a:r>
              <a:rPr sz="2100" b="0" i="0" lang="es-ES">
                <a:solidFill>
                  <a:srgbClr val="E2E8F0"/>
                </a:solidFill>
                <a:latin typeface="Segoe UI"/>
              </a:rPr>
              <a:t> Bidireccional.</a:t>
            </a:r>
          </a:p>
          <a:p>
            <a:pPr algn="l">
              <a:lnSpc>
                <a:spcPct val="110000"/>
              </a:lnSpc>
            </a:pPr>
            <a:r>
              <a:rPr sz="2100" b="0" i="0" lang="es-ES">
                <a:solidFill>
                  <a:srgbClr val="E2E8F0"/>
                </a:solidFill>
                <a:latin typeface="Segoe UI"/>
              </a:rPr>
              <a:t>• </a:t>
            </a:r>
            <a:r>
              <a:rPr sz="2100" b="1" i="0" lang="es-ES">
                <a:solidFill>
                  <a:srgbClr val="E2E8F0"/>
                </a:solidFill>
                <a:latin typeface="Segoe UI"/>
              </a:rPr>
              <a:t>Objetivo:</a:t>
            </a:r>
            <a:r>
              <a:rPr sz="2100" b="0" i="0" lang="es-ES">
                <a:solidFill>
                  <a:srgbClr val="E2E8F0"/>
                </a:solidFill>
                <a:latin typeface="Segoe UI"/>
              </a:rPr>
              <a:t> Sincronización masiva (miocardio, interneuronas).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0300" y="1695450"/>
            <a:ext cx="5362575" cy="3838575"/>
          </a:xfrm>
          <a:prstGeom prst="roundRect">
            <a:avLst>
              <a:gd name="adj" fmla="val 2977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19850" y="1866900"/>
            <a:ext cx="3529012" cy="266700"/>
          </a:xfrm>
          <a:prstGeom prst="roundRect">
            <a:avLst>
              <a:gd name="adj" fmla="val 21428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200" b="1" i="0" lang="es-ES">
                <a:solidFill>
                  <a:srgbClr val="FFFFFF"/>
                </a:solidFill>
                <a:latin typeface="Segoe UI"/>
              </a:rPr>
              <a:t>SINAPSIS QUÍMICA (LA COMPUTADORA)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19850" y="2228850"/>
            <a:ext cx="4943475" cy="31908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944"/>
              </a:spcAft>
            </a:pPr>
            <a:r>
              <a:rPr sz="2100" b="0" i="0" lang="es-ES">
                <a:solidFill>
                  <a:srgbClr val="E2E8F0"/>
                </a:solidFill>
                <a:latin typeface="Segoe UI"/>
              </a:rPr>
              <a:t>• </a:t>
            </a:r>
            <a:r>
              <a:rPr sz="2100" b="1" i="0" lang="es-ES">
                <a:solidFill>
                  <a:srgbClr val="E2E8F0"/>
                </a:solidFill>
                <a:latin typeface="Segoe UI"/>
              </a:rPr>
              <a:t>Estructura:</a:t>
            </a:r>
            <a:r>
              <a:rPr sz="2100" b="0" i="0" lang="es-ES">
                <a:solidFill>
                  <a:srgbClr val="E2E8F0"/>
                </a:solidFill>
                <a:latin typeface="Segoe UI"/>
              </a:rPr>
              <a:t> Hendidura (20–40 nm) + vesículas.</a:t>
            </a:r>
          </a:p>
          <a:p>
            <a:pPr algn="l">
              <a:lnSpc>
                <a:spcPct val="110000"/>
              </a:lnSpc>
              <a:spcAft>
                <a:spcPts val="944"/>
              </a:spcAft>
            </a:pPr>
            <a:r>
              <a:rPr sz="2100" b="0" i="0" lang="es-ES">
                <a:solidFill>
                  <a:srgbClr val="E2E8F0"/>
                </a:solidFill>
                <a:latin typeface="Segoe UI"/>
              </a:rPr>
              <a:t>• </a:t>
            </a:r>
            <a:r>
              <a:rPr sz="2100" b="1" i="0" lang="es-ES">
                <a:solidFill>
                  <a:srgbClr val="E2E8F0"/>
                </a:solidFill>
                <a:latin typeface="Segoe UI"/>
              </a:rPr>
              <a:t>Cinética:</a:t>
            </a:r>
            <a:r>
              <a:rPr sz="2100" b="0" i="0" lang="es-ES">
                <a:solidFill>
                  <a:srgbClr val="E2E8F0"/>
                </a:solidFill>
                <a:latin typeface="Segoe UI"/>
              </a:rPr>
              <a:t> Retardo sináptico (0.5–1.0 ms).</a:t>
            </a:r>
          </a:p>
          <a:p>
            <a:pPr algn="l">
              <a:lnSpc>
                <a:spcPct val="110000"/>
              </a:lnSpc>
              <a:spcAft>
                <a:spcPts val="944"/>
              </a:spcAft>
            </a:pPr>
            <a:r>
              <a:rPr sz="2100" b="0" i="0" lang="es-ES">
                <a:solidFill>
                  <a:srgbClr val="E2E8F0"/>
                </a:solidFill>
                <a:latin typeface="Segoe UI"/>
              </a:rPr>
              <a:t>• </a:t>
            </a:r>
            <a:r>
              <a:rPr sz="2100" b="1" i="0" lang="es-ES">
                <a:solidFill>
                  <a:srgbClr val="E2E8F0"/>
                </a:solidFill>
                <a:latin typeface="Segoe UI"/>
              </a:rPr>
              <a:t>Flujo:</a:t>
            </a:r>
            <a:r>
              <a:rPr sz="2100" b="0" i="0" lang="es-ES">
                <a:solidFill>
                  <a:srgbClr val="E2E8F0"/>
                </a:solidFill>
                <a:latin typeface="Segoe UI"/>
              </a:rPr>
              <a:t> Estrictamente unidireccional.</a:t>
            </a:r>
          </a:p>
          <a:p>
            <a:pPr algn="l">
              <a:lnSpc>
                <a:spcPct val="110000"/>
              </a:lnSpc>
            </a:pPr>
            <a:r>
              <a:rPr sz="2100" b="0" i="0" lang="es-ES">
                <a:solidFill>
                  <a:srgbClr val="E2E8F0"/>
                </a:solidFill>
                <a:latin typeface="Segoe UI"/>
              </a:rPr>
              <a:t>• </a:t>
            </a:r>
            <a:r>
              <a:rPr sz="2100" b="1" i="0" lang="es-ES">
                <a:solidFill>
                  <a:srgbClr val="E2E8F0"/>
                </a:solidFill>
                <a:latin typeface="Segoe UI"/>
              </a:rPr>
              <a:t>Objetivo:</a:t>
            </a:r>
            <a:r>
              <a:rPr sz="2100" b="0" i="0" lang="es-ES">
                <a:solidFill>
                  <a:srgbClr val="E2E8F0"/>
                </a:solidFill>
                <a:latin typeface="Segoe UI"/>
              </a:rPr>
              <a:t> Plasticidad, amplificación y diana farmacológica.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1375" y="6534150"/>
            <a:ext cx="5715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200" b="0" i="0" lang="es-ES">
                <a:solidFill>
                  <a:srgbClr val="94A3B8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9125" y="428625"/>
            <a:ext cx="10953750" cy="533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 i="0" lang="es-ES">
                <a:solidFill>
                  <a:srgbClr val="38BDF8"/>
                </a:solidFill>
                <a:latin typeface="Segoe UI"/>
              </a:rPr>
              <a:t>3. El Ciclo Sináptico</a:t>
            </a:r>
          </a:p>
        </p:txBody>
      </p:sp>
      <p:sp>
        <p:nvSpPr>
          <p:cNvPr id="3" name="Rectangle 2"/>
          <p:cNvSpPr/>
          <p:nvPr/>
        </p:nvSpPr>
        <p:spPr>
          <a:xfrm>
            <a:off x="619125" y="1000125"/>
            <a:ext cx="10953750" cy="1905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9125" y="1152525"/>
            <a:ext cx="1095375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950" b="0" i="0" lang="es-ES">
                <a:solidFill>
                  <a:srgbClr val="94A3B8"/>
                </a:solidFill>
                <a:latin typeface="Segoe UI"/>
              </a:rPr>
              <a:t>Las 5 Fases de la Señal Neuroquímica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9125" y="1790700"/>
            <a:ext cx="2099310" cy="1499235"/>
          </a:xfrm>
          <a:prstGeom prst="roundRect">
            <a:avLst>
              <a:gd name="adj" fmla="val 5082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19125" y="1790700"/>
            <a:ext cx="2099310" cy="381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2475" y="1943100"/>
            <a:ext cx="1832610" cy="12706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315"/>
              </a:spcAft>
            </a:pPr>
            <a:r>
              <a:rPr sz="1575" b="1" i="0" lang="es-ES">
                <a:solidFill>
                  <a:srgbClr val="E2E8F0"/>
                </a:solidFill>
                <a:latin typeface="Segoe UI"/>
              </a:rPr>
              <a:t>1. Síntesis</a:t>
            </a:r>
          </a:p>
          <a:p>
            <a:pPr algn="ctr">
              <a:lnSpc>
                <a:spcPct val="110000"/>
              </a:lnSpc>
            </a:pPr>
            <a:r>
              <a:rPr sz="1575" b="0" i="0" lang="es-ES">
                <a:solidFill>
                  <a:srgbClr val="E2E8F0"/>
                </a:solidFill>
                <a:latin typeface="Segoe UI"/>
              </a:rPr>
              <a:t>Precursores enzimáticos en soma/axón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32735" y="1790700"/>
            <a:ext cx="2099310" cy="1499235"/>
          </a:xfrm>
          <a:prstGeom prst="roundRect">
            <a:avLst>
              <a:gd name="adj" fmla="val 5082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832735" y="1790700"/>
            <a:ext cx="2099310" cy="381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66085" y="1943100"/>
            <a:ext cx="1832610" cy="12706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315"/>
              </a:spcAft>
            </a:pPr>
            <a:r>
              <a:rPr sz="1575" b="1" i="0" lang="es-ES">
                <a:solidFill>
                  <a:srgbClr val="E2E8F0"/>
                </a:solidFill>
                <a:latin typeface="Segoe UI"/>
              </a:rPr>
              <a:t>2. Empaque</a:t>
            </a:r>
          </a:p>
          <a:p>
            <a:pPr algn="ctr">
              <a:lnSpc>
                <a:spcPct val="110000"/>
              </a:lnSpc>
            </a:pPr>
            <a:r>
              <a:rPr sz="1575" b="0" i="0" lang="es-ES">
                <a:solidFill>
                  <a:srgbClr val="E2E8F0"/>
                </a:solidFill>
                <a:latin typeface="Segoe UI"/>
              </a:rPr>
              <a:t>Gradiente H+-ATPasa (VAChT, VMAT)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46345" y="1790700"/>
            <a:ext cx="2099310" cy="1499235"/>
          </a:xfrm>
          <a:prstGeom prst="roundRect">
            <a:avLst>
              <a:gd name="adj" fmla="val 5082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46345" y="1790700"/>
            <a:ext cx="2099310" cy="381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79695" y="1943100"/>
            <a:ext cx="1832610" cy="12706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315"/>
              </a:spcAft>
            </a:pPr>
            <a:r>
              <a:rPr sz="1575" b="1" i="0" lang="es-ES">
                <a:solidFill>
                  <a:srgbClr val="E2E8F0"/>
                </a:solidFill>
                <a:latin typeface="Segoe UI"/>
              </a:rPr>
              <a:t>3. Liberación</a:t>
            </a:r>
          </a:p>
          <a:p>
            <a:pPr algn="ctr">
              <a:lnSpc>
                <a:spcPct val="110000"/>
              </a:lnSpc>
            </a:pPr>
            <a:r>
              <a:rPr sz="1575" b="0" i="0" lang="es-ES">
                <a:solidFill>
                  <a:srgbClr val="E2E8F0"/>
                </a:solidFill>
                <a:latin typeface="Segoe UI"/>
              </a:rPr>
              <a:t>Entrada de Ca2+ voltaje-dependiente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59955" y="1790700"/>
            <a:ext cx="2099310" cy="1499235"/>
          </a:xfrm>
          <a:prstGeom prst="roundRect">
            <a:avLst>
              <a:gd name="adj" fmla="val 5082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259955" y="1790700"/>
            <a:ext cx="2099310" cy="381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93305" y="1943100"/>
            <a:ext cx="1832610" cy="12706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315"/>
              </a:spcAft>
            </a:pPr>
            <a:r>
              <a:rPr sz="1575" b="1" i="0" lang="es-ES">
                <a:solidFill>
                  <a:srgbClr val="E2E8F0"/>
                </a:solidFill>
                <a:latin typeface="Segoe UI"/>
              </a:rPr>
              <a:t>4. Acción</a:t>
            </a:r>
          </a:p>
          <a:p>
            <a:pPr algn="ctr">
              <a:lnSpc>
                <a:spcPct val="110000"/>
              </a:lnSpc>
            </a:pPr>
            <a:r>
              <a:rPr sz="1575" b="0" i="0" lang="es-ES">
                <a:solidFill>
                  <a:srgbClr val="E2E8F0"/>
                </a:solidFill>
                <a:latin typeface="Segoe UI"/>
              </a:rPr>
              <a:t>Unión a receptor postsináptico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473565" y="1790700"/>
            <a:ext cx="2099310" cy="1499235"/>
          </a:xfrm>
          <a:prstGeom prst="roundRect">
            <a:avLst>
              <a:gd name="adj" fmla="val 5082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473565" y="1790700"/>
            <a:ext cx="2099310" cy="381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6915" y="1943100"/>
            <a:ext cx="1832610" cy="12706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315"/>
              </a:spcAft>
            </a:pPr>
            <a:r>
              <a:rPr sz="1575" b="1" i="0" lang="es-ES">
                <a:solidFill>
                  <a:srgbClr val="E2E8F0"/>
                </a:solidFill>
                <a:latin typeface="Segoe UI"/>
              </a:rPr>
              <a:t>5. Inactivación</a:t>
            </a:r>
          </a:p>
          <a:p>
            <a:pPr algn="ctr">
              <a:lnSpc>
                <a:spcPct val="110000"/>
              </a:lnSpc>
            </a:pPr>
            <a:r>
              <a:rPr sz="1575" b="0" i="0" lang="es-ES">
                <a:solidFill>
                  <a:srgbClr val="E2E8F0"/>
                </a:solidFill>
                <a:latin typeface="Segoe UI"/>
              </a:rPr>
              <a:t>Recaptación o lisis (AChE)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9125" y="3480435"/>
            <a:ext cx="10953750" cy="1744980"/>
          </a:xfrm>
          <a:prstGeom prst="roundRect">
            <a:avLst>
              <a:gd name="adj" fmla="val 655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28675" y="3651885"/>
            <a:ext cx="1728788" cy="266700"/>
          </a:xfrm>
          <a:prstGeom prst="roundRect">
            <a:avLst>
              <a:gd name="adj" fmla="val 21428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200" b="1" i="0" lang="es-ES">
                <a:solidFill>
                  <a:srgbClr val="FFFFFF"/>
                </a:solidFill>
                <a:latin typeface="Segoe UI"/>
              </a:rPr>
              <a:t>REGLA BIOLÓGICA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675" y="4013835"/>
            <a:ext cx="1053465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100" b="0" i="0" lang="es-ES">
                <a:solidFill>
                  <a:srgbClr val="E2E8F0"/>
                </a:solidFill>
                <a:latin typeface="Segoe UI"/>
              </a:rPr>
              <a:t>Para considerarse neurotransmisor debe sintetizarse en la terminal, liberarse por Ca2+, reproducir el efecto fisiológico y eliminarse activamente. (Excepción: mensajeros retrógrados gaseosos como el NO).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01375" y="6534150"/>
            <a:ext cx="5715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200" b="0" i="0" lang="es-ES">
                <a:solidFill>
                  <a:srgbClr val="94A3B8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9125" y="428625"/>
            <a:ext cx="10953750" cy="533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 i="0" lang="es-ES">
                <a:solidFill>
                  <a:srgbClr val="38BDF8"/>
                </a:solidFill>
                <a:latin typeface="Segoe UI"/>
              </a:rPr>
              <a:t>4. Fusión Sináptica: Maquinaria SNARE</a:t>
            </a:r>
          </a:p>
        </p:txBody>
      </p:sp>
      <p:sp>
        <p:nvSpPr>
          <p:cNvPr id="3" name="Rectangle 2"/>
          <p:cNvSpPr/>
          <p:nvPr/>
        </p:nvSpPr>
        <p:spPr>
          <a:xfrm>
            <a:off x="619125" y="1000125"/>
            <a:ext cx="10953750" cy="1905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9125" y="1152525"/>
            <a:ext cx="1095375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950" b="0" i="0" lang="es-ES">
                <a:solidFill>
                  <a:srgbClr val="94A3B8"/>
                </a:solidFill>
                <a:latin typeface="Segoe UI"/>
              </a:rPr>
              <a:t>Dianas Críticas de las Neurotoxinas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9125" y="1695450"/>
            <a:ext cx="5362575" cy="4185285"/>
          </a:xfrm>
          <a:prstGeom prst="roundRect">
            <a:avLst>
              <a:gd name="adj" fmla="val 273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8675" y="1866900"/>
            <a:ext cx="2228850" cy="266700"/>
          </a:xfrm>
          <a:prstGeom prst="roundRect">
            <a:avLst>
              <a:gd name="adj" fmla="val 21428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200" b="1" i="0" lang="es-ES">
                <a:solidFill>
                  <a:srgbClr val="FFFFFF"/>
                </a:solidFill>
                <a:latin typeface="Segoe UI"/>
              </a:rPr>
              <a:t>CREMALLERA MOLECULAR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8675" y="2228850"/>
            <a:ext cx="4943475" cy="353758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944"/>
              </a:spcAft>
            </a:pPr>
            <a:r>
              <a:rPr sz="2100" b="0" i="0" lang="es-ES">
                <a:solidFill>
                  <a:srgbClr val="E2E8F0"/>
                </a:solidFill>
                <a:latin typeface="Segoe UI"/>
              </a:rPr>
              <a:t>• </a:t>
            </a:r>
            <a:r>
              <a:rPr sz="2100" b="1" i="0" lang="es-ES">
                <a:solidFill>
                  <a:srgbClr val="E2E8F0"/>
                </a:solidFill>
                <a:latin typeface="Segoe UI"/>
              </a:rPr>
              <a:t>v-SNARE:</a:t>
            </a:r>
            <a:r>
              <a:rPr sz="2100" b="0" i="0" lang="es-ES">
                <a:solidFill>
                  <a:srgbClr val="E2E8F0"/>
                </a:solidFill>
                <a:latin typeface="Segoe UI"/>
              </a:rPr>
              <a:t> Sinaptobrevina (en vesícula).</a:t>
            </a:r>
          </a:p>
          <a:p>
            <a:pPr algn="l">
              <a:lnSpc>
                <a:spcPct val="110000"/>
              </a:lnSpc>
              <a:spcAft>
                <a:spcPts val="944"/>
              </a:spcAft>
            </a:pPr>
            <a:r>
              <a:rPr sz="2100" b="0" i="0" lang="es-ES">
                <a:solidFill>
                  <a:srgbClr val="E2E8F0"/>
                </a:solidFill>
                <a:latin typeface="Segoe UI"/>
              </a:rPr>
              <a:t>• </a:t>
            </a:r>
            <a:r>
              <a:rPr sz="2100" b="1" i="0" lang="es-ES">
                <a:solidFill>
                  <a:srgbClr val="E2E8F0"/>
                </a:solidFill>
                <a:latin typeface="Segoe UI"/>
              </a:rPr>
              <a:t>t-SNARE:</a:t>
            </a:r>
            <a:r>
              <a:rPr sz="2100" b="0" i="0" lang="es-ES">
                <a:solidFill>
                  <a:srgbClr val="E2E8F0"/>
                </a:solidFill>
                <a:latin typeface="Segoe UI"/>
              </a:rPr>
              <a:t> Sintaxina-1 y SNAP-25 (membrana).</a:t>
            </a:r>
          </a:p>
          <a:p>
            <a:pPr algn="l">
              <a:lnSpc>
                <a:spcPct val="110000"/>
              </a:lnSpc>
              <a:spcAft>
                <a:spcPts val="944"/>
              </a:spcAft>
            </a:pPr>
            <a:r>
              <a:rPr sz="2100" b="0" i="0" lang="es-ES">
                <a:solidFill>
                  <a:srgbClr val="E2E8F0"/>
                </a:solidFill>
                <a:latin typeface="Segoe UI"/>
              </a:rPr>
              <a:t>• </a:t>
            </a:r>
            <a:r>
              <a:rPr sz="2100" b="1" i="0" lang="es-ES">
                <a:solidFill>
                  <a:srgbClr val="E2E8F0"/>
                </a:solidFill>
                <a:latin typeface="Segoe UI"/>
              </a:rPr>
              <a:t>Sensor Ca2+:</a:t>
            </a:r>
            <a:r>
              <a:rPr sz="2100" b="0" i="0" lang="es-ES">
                <a:solidFill>
                  <a:srgbClr val="E2E8F0"/>
                </a:solidFill>
                <a:latin typeface="Segoe UI"/>
              </a:rPr>
              <a:t> Sinaptotagmina-1 (gatillo en &lt;1 ms).</a:t>
            </a:r>
          </a:p>
          <a:p>
            <a:pPr algn="l">
              <a:lnSpc>
                <a:spcPct val="110000"/>
              </a:lnSpc>
            </a:pPr>
            <a:r>
              <a:rPr sz="2100" b="0" i="1" lang="es-ES">
                <a:solidFill>
                  <a:srgbClr val="E2E8F0"/>
                </a:solidFill>
                <a:latin typeface="Segoe UI"/>
              </a:rPr>
              <a:t>Mecánica: Cuatro hélices enrolladas vencen la repulsión electrostática.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0300" y="1695450"/>
            <a:ext cx="5362575" cy="4185285"/>
          </a:xfrm>
          <a:prstGeom prst="roundRect">
            <a:avLst>
              <a:gd name="adj" fmla="val 273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19850" y="1866900"/>
            <a:ext cx="2028825" cy="266700"/>
          </a:xfrm>
          <a:prstGeom prst="roundRect">
            <a:avLst>
              <a:gd name="adj" fmla="val 21428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200" b="1" i="0" lang="es-ES">
                <a:solidFill>
                  <a:srgbClr val="FFFFFF"/>
                </a:solidFill>
                <a:latin typeface="Segoe UI"/>
              </a:rPr>
              <a:t>ATAQUE CLOSTRIDIAL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19850" y="2228850"/>
            <a:ext cx="4943475" cy="353758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944"/>
              </a:spcAft>
            </a:pPr>
            <a:r>
              <a:rPr sz="2100" b="0" i="0" lang="es-ES">
                <a:solidFill>
                  <a:srgbClr val="E2E8F0"/>
                </a:solidFill>
                <a:latin typeface="Segoe UI"/>
              </a:rPr>
              <a:t>• </a:t>
            </a:r>
            <a:r>
              <a:rPr sz="2100" b="1" i="0" lang="es-ES">
                <a:solidFill>
                  <a:srgbClr val="E2E8F0"/>
                </a:solidFill>
                <a:latin typeface="Segoe UI"/>
              </a:rPr>
              <a:t>Toxina Botulínica:</a:t>
            </a:r>
            <a:r>
              <a:rPr sz="2100" b="0" i="0" lang="es-ES">
                <a:solidFill>
                  <a:srgbClr val="E2E8F0"/>
                </a:solidFill>
                <a:latin typeface="Segoe UI"/>
              </a:rPr>
              <a:t> Corta SNARE periférico → Bloquea ACh → </a:t>
            </a:r>
            <a:r>
              <a:rPr sz="2100" b="1" i="0" lang="es-ES">
                <a:solidFill>
                  <a:srgbClr val="E2E8F0"/>
                </a:solidFill>
                <a:latin typeface="Segoe UI"/>
              </a:rPr>
              <a:t>Parálisis Flácida</a:t>
            </a:r>
            <a:r>
              <a:rPr sz="2100" b="0" i="0" lang="es-ES">
                <a:solidFill>
                  <a:srgbClr val="E2E8F0"/>
                </a:solidFill>
                <a:latin typeface="Segoe UI"/>
              </a:rPr>
              <a:t>.</a:t>
            </a:r>
          </a:p>
          <a:p>
            <a:pPr algn="l">
              <a:lnSpc>
                <a:spcPct val="110000"/>
              </a:lnSpc>
            </a:pPr>
            <a:r>
              <a:rPr sz="2100" b="0" i="0" lang="es-ES">
                <a:solidFill>
                  <a:srgbClr val="E2E8F0"/>
                </a:solidFill>
                <a:latin typeface="Segoe UI"/>
              </a:rPr>
              <a:t>• </a:t>
            </a:r>
            <a:r>
              <a:rPr sz="2100" b="1" i="0" lang="es-ES">
                <a:solidFill>
                  <a:srgbClr val="E2E8F0"/>
                </a:solidFill>
                <a:latin typeface="Segoe UI"/>
              </a:rPr>
              <a:t>Toxina Tetánica:</a:t>
            </a:r>
            <a:r>
              <a:rPr sz="2100" b="0" i="0" lang="es-ES">
                <a:solidFill>
                  <a:srgbClr val="E2E8F0"/>
                </a:solidFill>
                <a:latin typeface="Segoe UI"/>
              </a:rPr>
              <a:t> Migración retrógrada a médula → Corta SNARE en Renshaw → Bloquea GABA/Gly → </a:t>
            </a:r>
            <a:r>
              <a:rPr sz="2100" b="1" i="0" lang="es-ES">
                <a:solidFill>
                  <a:srgbClr val="E2E8F0"/>
                </a:solidFill>
                <a:latin typeface="Segoe UI"/>
              </a:rPr>
              <a:t>Parálisis Espástica</a:t>
            </a:r>
            <a:r>
              <a:rPr sz="2100" b="0" i="0" lang="es-ES">
                <a:solidFill>
                  <a:srgbClr val="E2E8F0"/>
                </a:solidFill>
                <a:latin typeface="Segoe UI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1375" y="6534150"/>
            <a:ext cx="5715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200" b="0" i="0" lang="es-ES">
                <a:solidFill>
                  <a:srgbClr val="94A3B8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9125" y="428625"/>
            <a:ext cx="10953750" cy="533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 i="0" lang="es-ES">
                <a:solidFill>
                  <a:srgbClr val="38BDF8"/>
                </a:solidFill>
                <a:latin typeface="Segoe UI"/>
              </a:rPr>
              <a:t>5. Receptores: Ionotrópicos vs. Metabotrópicos</a:t>
            </a:r>
          </a:p>
        </p:txBody>
      </p:sp>
      <p:sp>
        <p:nvSpPr>
          <p:cNvPr id="3" name="Rectangle 2"/>
          <p:cNvSpPr/>
          <p:nvPr/>
        </p:nvSpPr>
        <p:spPr>
          <a:xfrm>
            <a:off x="619125" y="1000125"/>
            <a:ext cx="10953750" cy="1905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9125" y="1152525"/>
            <a:ext cx="1095375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950" b="0" i="0" lang="es-ES">
                <a:solidFill>
                  <a:srgbClr val="94A3B8"/>
                </a:solidFill>
                <a:latin typeface="Segoe UI"/>
              </a:rPr>
              <a:t>Velocidad de Canal vs. Cascada de Señalización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9125" y="1695450"/>
            <a:ext cx="3536950" cy="3838575"/>
          </a:xfrm>
          <a:prstGeom prst="roundRect">
            <a:avLst>
              <a:gd name="adj" fmla="val 3231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8675" y="1866900"/>
            <a:ext cx="1328738" cy="266700"/>
          </a:xfrm>
          <a:prstGeom prst="roundRect">
            <a:avLst>
              <a:gd name="adj" fmla="val 21428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200" b="1" i="0" lang="es-ES">
                <a:solidFill>
                  <a:srgbClr val="FFFFFF"/>
                </a:solidFill>
                <a:latin typeface="Segoe UI"/>
              </a:rPr>
              <a:t>IONOTRÓPICO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8675" y="2228850"/>
            <a:ext cx="3117850" cy="31908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944"/>
              </a:spcAft>
            </a:pPr>
            <a:r>
              <a:rPr sz="2100" b="1" i="0" lang="es-ES">
                <a:solidFill>
                  <a:srgbClr val="E2E8F0"/>
                </a:solidFill>
                <a:latin typeface="Segoe UI"/>
              </a:rPr>
              <a:t>El Canal Rápido</a:t>
            </a:r>
          </a:p>
          <a:p>
            <a:pPr algn="l">
              <a:lnSpc>
                <a:spcPct val="110000"/>
              </a:lnSpc>
              <a:spcAft>
                <a:spcPts val="944"/>
              </a:spcAft>
            </a:pPr>
            <a:r>
              <a:rPr sz="2100" b="0" i="0" lang="es-ES">
                <a:solidFill>
                  <a:srgbClr val="E2E8F0"/>
                </a:solidFill>
                <a:latin typeface="Segoe UI"/>
              </a:rPr>
              <a:t>• Latencia: 1–10 ms.</a:t>
            </a:r>
          </a:p>
          <a:p>
            <a:pPr algn="l">
              <a:lnSpc>
                <a:spcPct val="110000"/>
              </a:lnSpc>
              <a:spcAft>
                <a:spcPts val="944"/>
              </a:spcAft>
            </a:pPr>
            <a:r>
              <a:rPr sz="2100" b="0" i="0" lang="es-ES">
                <a:solidFill>
                  <a:srgbClr val="E2E8F0"/>
                </a:solidFill>
                <a:latin typeface="Segoe UI"/>
              </a:rPr>
              <a:t>• Efecto: Fásico y breve.</a:t>
            </a:r>
          </a:p>
          <a:p>
            <a:pPr algn="l">
              <a:lnSpc>
                <a:spcPct val="110000"/>
              </a:lnSpc>
            </a:pPr>
            <a:r>
              <a:rPr sz="2100" b="0" i="0" lang="es-ES">
                <a:solidFill>
                  <a:srgbClr val="E2E8F0"/>
                </a:solidFill>
                <a:latin typeface="Segoe UI"/>
              </a:rPr>
              <a:t>• </a:t>
            </a:r>
            <a:r>
              <a:rPr sz="2100" b="0" i="1" lang="es-ES">
                <a:solidFill>
                  <a:srgbClr val="E2E8F0"/>
                </a:solidFill>
                <a:latin typeface="Segoe UI"/>
              </a:rPr>
              <a:t>Ejemplos:</a:t>
            </a:r>
            <a:r>
              <a:rPr sz="2100" b="0" i="0" lang="es-ES">
                <a:solidFill>
                  <a:srgbClr val="E2E8F0"/>
                </a:solidFill>
                <a:latin typeface="Segoe UI"/>
              </a:rPr>
              <a:t> Nicotínico (ACh), GABAA, AMPA/NMDA.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27525" y="1695450"/>
            <a:ext cx="3536950" cy="3838575"/>
          </a:xfrm>
          <a:prstGeom prst="roundRect">
            <a:avLst>
              <a:gd name="adj" fmla="val 3231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37075" y="1866900"/>
            <a:ext cx="1528762" cy="266700"/>
          </a:xfrm>
          <a:prstGeom prst="roundRect">
            <a:avLst>
              <a:gd name="adj" fmla="val 21428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200" b="1" i="0" lang="es-ES">
                <a:solidFill>
                  <a:srgbClr val="FFFFFF"/>
                </a:solidFill>
                <a:latin typeface="Segoe UI"/>
              </a:rPr>
              <a:t>METABOTRÓPICO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37075" y="2228850"/>
            <a:ext cx="3117850" cy="31908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944"/>
              </a:spcAft>
            </a:pPr>
            <a:r>
              <a:rPr sz="2100" b="1" i="0" lang="es-ES">
                <a:solidFill>
                  <a:srgbClr val="E2E8F0"/>
                </a:solidFill>
                <a:latin typeface="Segoe UI"/>
              </a:rPr>
              <a:t>La Cascada</a:t>
            </a:r>
          </a:p>
          <a:p>
            <a:pPr algn="l">
              <a:lnSpc>
                <a:spcPct val="110000"/>
              </a:lnSpc>
              <a:spcAft>
                <a:spcPts val="944"/>
              </a:spcAft>
            </a:pPr>
            <a:r>
              <a:rPr sz="2100" b="0" i="0" lang="es-ES">
                <a:solidFill>
                  <a:srgbClr val="E2E8F0"/>
                </a:solidFill>
                <a:latin typeface="Segoe UI"/>
              </a:rPr>
              <a:t>• Latencia: Segundos a min.</a:t>
            </a:r>
          </a:p>
          <a:p>
            <a:pPr algn="l">
              <a:lnSpc>
                <a:spcPct val="110000"/>
              </a:lnSpc>
              <a:spcAft>
                <a:spcPts val="944"/>
              </a:spcAft>
            </a:pPr>
            <a:r>
              <a:rPr sz="2100" b="0" i="0" lang="es-ES">
                <a:solidFill>
                  <a:srgbClr val="E2E8F0"/>
                </a:solidFill>
                <a:latin typeface="Segoe UI"/>
              </a:rPr>
              <a:t>• Acoplado a Proteínas G (Gs, Gi, Gq).</a:t>
            </a:r>
          </a:p>
          <a:p>
            <a:pPr algn="l">
              <a:lnSpc>
                <a:spcPct val="110000"/>
              </a:lnSpc>
            </a:pPr>
            <a:r>
              <a:rPr sz="2100" b="0" i="0" lang="es-ES">
                <a:solidFill>
                  <a:srgbClr val="E2E8F0"/>
                </a:solidFill>
                <a:latin typeface="Segoe UI"/>
              </a:rPr>
              <a:t>• </a:t>
            </a:r>
            <a:r>
              <a:rPr sz="2100" b="0" i="1" lang="es-ES">
                <a:solidFill>
                  <a:srgbClr val="E2E8F0"/>
                </a:solidFill>
                <a:latin typeface="Segoe UI"/>
              </a:rPr>
              <a:t>Ejemplos:</a:t>
            </a:r>
            <a:r>
              <a:rPr sz="2100" b="0" i="0" lang="es-ES">
                <a:solidFill>
                  <a:srgbClr val="E2E8F0"/>
                </a:solidFill>
                <a:latin typeface="Segoe UI"/>
              </a:rPr>
              <a:t> Muscarínicos (ACh), D1-D5, Adrenérgicos.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35925" y="1695450"/>
            <a:ext cx="3536950" cy="3838575"/>
          </a:xfrm>
          <a:prstGeom prst="roundRect">
            <a:avLst>
              <a:gd name="adj" fmla="val 3231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45475" y="1866900"/>
            <a:ext cx="1828800" cy="266700"/>
          </a:xfrm>
          <a:prstGeom prst="roundRect">
            <a:avLst>
              <a:gd name="adj" fmla="val 21428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200" b="1" i="0" lang="es-ES">
                <a:solidFill>
                  <a:srgbClr val="FFFFFF"/>
                </a:solidFill>
                <a:latin typeface="Segoe UI"/>
              </a:rPr>
              <a:t>TERMOSTATO LOCAL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45475" y="2228850"/>
            <a:ext cx="3117850" cy="31908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944"/>
              </a:spcAft>
            </a:pPr>
            <a:r>
              <a:rPr sz="2100" b="1" i="0" lang="es-ES">
                <a:solidFill>
                  <a:srgbClr val="E2E8F0"/>
                </a:solidFill>
                <a:latin typeface="Segoe UI"/>
              </a:rPr>
              <a:t>Regulación</a:t>
            </a:r>
          </a:p>
          <a:p>
            <a:pPr algn="l">
              <a:lnSpc>
                <a:spcPct val="110000"/>
              </a:lnSpc>
              <a:spcAft>
                <a:spcPts val="944"/>
              </a:spcAft>
            </a:pPr>
            <a:r>
              <a:rPr sz="2100" b="0" i="0" lang="es-ES">
                <a:solidFill>
                  <a:srgbClr val="E2E8F0"/>
                </a:solidFill>
                <a:latin typeface="Segoe UI"/>
              </a:rPr>
              <a:t>• </a:t>
            </a:r>
            <a:r>
              <a:rPr sz="2100" b="1" i="0" lang="es-ES">
                <a:solidFill>
                  <a:srgbClr val="E2E8F0"/>
                </a:solidFill>
                <a:latin typeface="Segoe UI"/>
              </a:rPr>
              <a:t>Autorreceptor:</a:t>
            </a:r>
            <a:r>
              <a:rPr sz="2100" b="0" i="0" lang="es-ES">
                <a:solidFill>
                  <a:srgbClr val="E2E8F0"/>
                </a:solidFill>
                <a:latin typeface="Segoe UI"/>
              </a:rPr>
              <a:t> Freno presináptico por retroalimentación.</a:t>
            </a:r>
          </a:p>
          <a:p>
            <a:pPr algn="l">
              <a:lnSpc>
                <a:spcPct val="110000"/>
              </a:lnSpc>
            </a:pPr>
            <a:r>
              <a:rPr sz="2100" b="0" i="0" lang="es-ES">
                <a:solidFill>
                  <a:srgbClr val="E2E8F0"/>
                </a:solidFill>
                <a:latin typeface="Segoe UI"/>
              </a:rPr>
              <a:t>• </a:t>
            </a:r>
            <a:r>
              <a:rPr sz="2100" b="1" i="0" lang="es-ES">
                <a:solidFill>
                  <a:srgbClr val="E2E8F0"/>
                </a:solidFill>
                <a:latin typeface="Segoe UI"/>
              </a:rPr>
              <a:t>Heterorreceptor:</a:t>
            </a:r>
            <a:r>
              <a:rPr sz="2100" b="0" i="0" lang="es-ES">
                <a:solidFill>
                  <a:srgbClr val="E2E8F0"/>
                </a:solidFill>
                <a:latin typeface="Segoe UI"/>
              </a:rPr>
              <a:t> Modulación cruzada intersináptica.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01375" y="6534150"/>
            <a:ext cx="5715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200" b="0" i="0" lang="es-ES">
                <a:solidFill>
                  <a:srgbClr val="94A3B8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9125" y="428625"/>
            <a:ext cx="10953750" cy="533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 i="0" lang="es-ES">
                <a:solidFill>
                  <a:srgbClr val="38BDF8"/>
                </a:solidFill>
                <a:latin typeface="Segoe UI"/>
              </a:rPr>
              <a:t>6. Circuitos: Precisión vs. Proyección Difusa</a:t>
            </a:r>
          </a:p>
        </p:txBody>
      </p:sp>
      <p:sp>
        <p:nvSpPr>
          <p:cNvPr id="3" name="Rectangle 2"/>
          <p:cNvSpPr/>
          <p:nvPr/>
        </p:nvSpPr>
        <p:spPr>
          <a:xfrm>
            <a:off x="619125" y="1000125"/>
            <a:ext cx="10953750" cy="1905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9125" y="1152525"/>
            <a:ext cx="1095375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950" b="0" i="0" lang="es-ES">
                <a:solidFill>
                  <a:srgbClr val="94A3B8"/>
                </a:solidFill>
                <a:latin typeface="Segoe UI"/>
              </a:rPr>
              <a:t>Redes Cableadas y Sistemas Moduladores del SNC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9125" y="1695450"/>
            <a:ext cx="5362575" cy="3371850"/>
          </a:xfrm>
          <a:prstGeom prst="roundRect">
            <a:avLst>
              <a:gd name="adj" fmla="val 3389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8675" y="1866900"/>
            <a:ext cx="3629025" cy="266700"/>
          </a:xfrm>
          <a:prstGeom prst="roundRect">
            <a:avLst>
              <a:gd name="adj" fmla="val 21428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200" b="1" i="0" lang="es-ES">
                <a:solidFill>
                  <a:srgbClr val="FFFFFF"/>
                </a:solidFill>
                <a:latin typeface="Segoe UI"/>
              </a:rPr>
              <a:t>SISTEMAS CABLEADOS (PUNTO A PUNTO)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8675" y="2228850"/>
            <a:ext cx="4943475" cy="27241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944"/>
              </a:spcAft>
            </a:pPr>
            <a:r>
              <a:rPr sz="2100" b="0" i="0" lang="es-ES">
                <a:solidFill>
                  <a:srgbClr val="E2E8F0"/>
                </a:solidFill>
                <a:latin typeface="Segoe UI"/>
              </a:rPr>
              <a:t>• </a:t>
            </a:r>
            <a:r>
              <a:rPr sz="2100" b="1" i="0" lang="es-ES">
                <a:solidFill>
                  <a:srgbClr val="E2E8F0"/>
                </a:solidFill>
                <a:latin typeface="Segoe UI"/>
              </a:rPr>
              <a:t>Mediadores:</a:t>
            </a:r>
            <a:r>
              <a:rPr sz="2100" b="0" i="0" lang="es-ES">
                <a:solidFill>
                  <a:srgbClr val="E2E8F0"/>
                </a:solidFill>
                <a:latin typeface="Segoe UI"/>
              </a:rPr>
              <a:t> Glutamato (+) y GABA (-).</a:t>
            </a:r>
          </a:p>
          <a:p>
            <a:pPr algn="l">
              <a:lnSpc>
                <a:spcPct val="110000"/>
              </a:lnSpc>
              <a:spcAft>
                <a:spcPts val="944"/>
              </a:spcAft>
            </a:pPr>
            <a:r>
              <a:rPr sz="2100" b="0" i="0" lang="es-ES">
                <a:solidFill>
                  <a:srgbClr val="E2E8F0"/>
                </a:solidFill>
                <a:latin typeface="Segoe UI"/>
              </a:rPr>
              <a:t>• </a:t>
            </a:r>
            <a:r>
              <a:rPr sz="2100" b="1" i="0" lang="es-ES">
                <a:solidFill>
                  <a:srgbClr val="E2E8F0"/>
                </a:solidFill>
                <a:latin typeface="Segoe UI"/>
              </a:rPr>
              <a:t>Arquitectura:</a:t>
            </a:r>
            <a:r>
              <a:rPr sz="2100" b="0" i="0" lang="es-ES">
                <a:solidFill>
                  <a:srgbClr val="E2E8F0"/>
                </a:solidFill>
                <a:latin typeface="Segoe UI"/>
              </a:rPr>
              <a:t> Conexiones discretas y topográficas.</a:t>
            </a:r>
          </a:p>
          <a:p>
            <a:pPr algn="l">
              <a:lnSpc>
                <a:spcPct val="110000"/>
              </a:lnSpc>
            </a:pPr>
            <a:r>
              <a:rPr sz="2100" b="0" i="0" lang="es-ES">
                <a:solidFill>
                  <a:srgbClr val="E2E8F0"/>
                </a:solidFill>
                <a:latin typeface="Segoe UI"/>
              </a:rPr>
              <a:t>• </a:t>
            </a:r>
            <a:r>
              <a:rPr sz="2100" b="1" i="0" lang="es-ES">
                <a:solidFill>
                  <a:srgbClr val="E2E8F0"/>
                </a:solidFill>
                <a:latin typeface="Segoe UI"/>
              </a:rPr>
              <a:t>Función:</a:t>
            </a:r>
            <a:r>
              <a:rPr sz="2100" b="0" i="0" lang="es-ES">
                <a:solidFill>
                  <a:srgbClr val="E2E8F0"/>
                </a:solidFill>
                <a:latin typeface="Segoe UI"/>
              </a:rPr>
              <a:t> Procesamiento sensorial discriminativo, computación cortical y control motor milimétrico.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0300" y="1695450"/>
            <a:ext cx="5362575" cy="3371850"/>
          </a:xfrm>
          <a:prstGeom prst="roundRect">
            <a:avLst>
              <a:gd name="adj" fmla="val 3389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19850" y="1866900"/>
            <a:ext cx="3028950" cy="266700"/>
          </a:xfrm>
          <a:prstGeom prst="roundRect">
            <a:avLst>
              <a:gd name="adj" fmla="val 21428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200" b="1" i="0" lang="es-ES">
                <a:solidFill>
                  <a:srgbClr val="FFFFFF"/>
                </a:solidFill>
                <a:latin typeface="Segoe UI"/>
              </a:rPr>
              <a:t>SISTEMAS DE RADIACIÓN DIFUSA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19850" y="2228850"/>
            <a:ext cx="4943475" cy="27241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944"/>
              </a:spcAft>
            </a:pPr>
            <a:r>
              <a:rPr sz="2100" b="0" i="0" lang="es-ES">
                <a:solidFill>
                  <a:srgbClr val="E2E8F0"/>
                </a:solidFill>
                <a:latin typeface="Segoe UI"/>
              </a:rPr>
              <a:t>• </a:t>
            </a:r>
            <a:r>
              <a:rPr sz="2100" b="1" i="0" lang="es-ES">
                <a:solidFill>
                  <a:srgbClr val="E2E8F0"/>
                </a:solidFill>
                <a:latin typeface="Segoe UI"/>
              </a:rPr>
              <a:t>Mediadores:</a:t>
            </a:r>
            <a:r>
              <a:rPr sz="2100" b="0" i="0" lang="es-ES">
                <a:solidFill>
                  <a:srgbClr val="E2E8F0"/>
                </a:solidFill>
                <a:latin typeface="Segoe UI"/>
              </a:rPr>
              <a:t> Dopamina, NA, Serotonina, ACh central.</a:t>
            </a:r>
          </a:p>
          <a:p>
            <a:pPr algn="l">
              <a:lnSpc>
                <a:spcPct val="110000"/>
              </a:lnSpc>
              <a:spcAft>
                <a:spcPts val="944"/>
              </a:spcAft>
            </a:pPr>
            <a:r>
              <a:rPr sz="2100" b="0" i="0" lang="es-ES">
                <a:solidFill>
                  <a:srgbClr val="E2E8F0"/>
                </a:solidFill>
                <a:latin typeface="Segoe UI"/>
              </a:rPr>
              <a:t>• </a:t>
            </a:r>
            <a:r>
              <a:rPr sz="2100" b="1" i="0" lang="es-ES">
                <a:solidFill>
                  <a:srgbClr val="E2E8F0"/>
                </a:solidFill>
                <a:latin typeface="Segoe UI"/>
              </a:rPr>
              <a:t>Arquitectura:</a:t>
            </a:r>
            <a:r>
              <a:rPr sz="2100" b="0" i="0" lang="es-ES">
                <a:solidFill>
                  <a:srgbClr val="E2E8F0"/>
                </a:solidFill>
                <a:latin typeface="Segoe UI"/>
              </a:rPr>
              <a:t> Núcleos del tronco (Locus coeruleus, Rafe) con amplias varicosidades axonales.</a:t>
            </a:r>
          </a:p>
          <a:p>
            <a:pPr algn="l">
              <a:lnSpc>
                <a:spcPct val="110000"/>
              </a:lnSpc>
            </a:pPr>
            <a:r>
              <a:rPr sz="2100" b="0" i="0" lang="es-ES">
                <a:solidFill>
                  <a:srgbClr val="E2E8F0"/>
                </a:solidFill>
                <a:latin typeface="Segoe UI"/>
              </a:rPr>
              <a:t>• </a:t>
            </a:r>
            <a:r>
              <a:rPr sz="2100" b="1" i="0" lang="es-ES">
                <a:solidFill>
                  <a:srgbClr val="E2E8F0"/>
                </a:solidFill>
                <a:latin typeface="Segoe UI"/>
              </a:rPr>
              <a:t>Función:</a:t>
            </a:r>
            <a:r>
              <a:rPr sz="2100" b="0" i="0" lang="es-ES">
                <a:solidFill>
                  <a:srgbClr val="E2E8F0"/>
                </a:solidFill>
                <a:latin typeface="Segoe UI"/>
              </a:rPr>
              <a:t> Regulación del tono global, afecto, vigilia y motivación.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1375" y="6534150"/>
            <a:ext cx="5715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200" b="0" i="0" lang="es-ES">
                <a:solidFill>
                  <a:srgbClr val="94A3B8"/>
                </a:solidFill>
                <a:latin typeface="Segoe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9125" y="428625"/>
            <a:ext cx="10953750" cy="533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 i="0" lang="es-ES">
                <a:solidFill>
                  <a:srgbClr val="38BDF8"/>
                </a:solidFill>
                <a:latin typeface="Segoe UI"/>
              </a:rPr>
              <a:t>7. Resolución: Miastenia Gravis</a:t>
            </a:r>
          </a:p>
        </p:txBody>
      </p:sp>
      <p:sp>
        <p:nvSpPr>
          <p:cNvPr id="3" name="Rectangle 2"/>
          <p:cNvSpPr/>
          <p:nvPr/>
        </p:nvSpPr>
        <p:spPr>
          <a:xfrm>
            <a:off x="619125" y="1000125"/>
            <a:ext cx="10953750" cy="1905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9125" y="1152525"/>
            <a:ext cx="1095375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950" b="0" i="0" lang="es-ES">
                <a:solidFill>
                  <a:srgbClr val="94A3B8"/>
                </a:solidFill>
                <a:latin typeface="Segoe UI"/>
              </a:rPr>
              <a:t>Cuando claudica el factor de seguridad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9125" y="1695450"/>
            <a:ext cx="5362575" cy="4065270"/>
          </a:xfrm>
          <a:prstGeom prst="roundRect">
            <a:avLst>
              <a:gd name="adj" fmla="val 2811"/>
            </a:avLst>
          </a:prstGeom>
          <a:solidFill>
            <a:srgbClr val="1E293B"/>
          </a:solidFill>
          <a:ln w="1905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8675" y="1866900"/>
            <a:ext cx="2628900" cy="266700"/>
          </a:xfrm>
          <a:prstGeom prst="roundRect">
            <a:avLst>
              <a:gd name="adj" fmla="val 21428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200" b="1" i="0" lang="es-ES">
                <a:solidFill>
                  <a:srgbClr val="FFFFFF"/>
                </a:solidFill>
                <a:latin typeface="Segoe UI"/>
              </a:rPr>
              <a:t>FISIOPATOLOGÍA MOLECULAR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8675" y="2228850"/>
            <a:ext cx="4943475" cy="34175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944"/>
              </a:spcAft>
            </a:pPr>
            <a:r>
              <a:rPr sz="2100" b="0" i="0" lang="es-ES">
                <a:solidFill>
                  <a:srgbClr val="E2E8F0"/>
                </a:solidFill>
                <a:latin typeface="Segoe UI"/>
              </a:rPr>
              <a:t>• </a:t>
            </a:r>
            <a:r>
              <a:rPr sz="2100" b="1" i="0" lang="es-ES">
                <a:solidFill>
                  <a:srgbClr val="E2E8F0"/>
                </a:solidFill>
                <a:latin typeface="Segoe UI"/>
              </a:rPr>
              <a:t>Diana:</a:t>
            </a:r>
            <a:r>
              <a:rPr sz="2100" b="0" i="0" lang="es-ES">
                <a:solidFill>
                  <a:srgbClr val="E2E8F0"/>
                </a:solidFill>
                <a:latin typeface="Segoe UI"/>
              </a:rPr>
              <a:t> Autoanticuerpos anti-AChR (~85%) o anti-MuSK.</a:t>
            </a:r>
          </a:p>
          <a:p>
            <a:pPr algn="l">
              <a:lnSpc>
                <a:spcPct val="110000"/>
              </a:lnSpc>
              <a:spcAft>
                <a:spcPts val="944"/>
              </a:spcAft>
            </a:pPr>
            <a:r>
              <a:rPr sz="2100" b="0" i="0" lang="es-ES">
                <a:solidFill>
                  <a:srgbClr val="E2E8F0"/>
                </a:solidFill>
                <a:latin typeface="Segoe UI"/>
              </a:rPr>
              <a:t>• </a:t>
            </a:r>
            <a:r>
              <a:rPr sz="2100" b="1" i="0" lang="es-ES">
                <a:solidFill>
                  <a:srgbClr val="E2E8F0"/>
                </a:solidFill>
                <a:latin typeface="Segoe UI"/>
              </a:rPr>
              <a:t>Daño:</a:t>
            </a:r>
            <a:r>
              <a:rPr sz="2100" b="0" i="0" lang="es-ES">
                <a:solidFill>
                  <a:srgbClr val="E2E8F0"/>
                </a:solidFill>
                <a:latin typeface="Segoe UI"/>
              </a:rPr>
              <a:t> Destrucción de pliegues postsinápticos.</a:t>
            </a:r>
          </a:p>
          <a:p>
            <a:pPr algn="l">
              <a:lnSpc>
                <a:spcPct val="110000"/>
              </a:lnSpc>
            </a:pPr>
            <a:r>
              <a:rPr sz="2100" b="0" i="0" lang="es-ES">
                <a:solidFill>
                  <a:srgbClr val="E2E8F0"/>
                </a:solidFill>
                <a:latin typeface="Segoe UI"/>
              </a:rPr>
              <a:t>• </a:t>
            </a:r>
            <a:r>
              <a:rPr sz="2100" b="1" i="0" lang="es-ES">
                <a:solidFill>
                  <a:srgbClr val="E2E8F0"/>
                </a:solidFill>
                <a:latin typeface="Segoe UI"/>
              </a:rPr>
              <a:t>Mecanismo de fatiga:</a:t>
            </a:r>
            <a:r>
              <a:rPr sz="2100" b="0" i="0" lang="es-ES">
                <a:solidFill>
                  <a:srgbClr val="E2E8F0"/>
                </a:solidFill>
                <a:latin typeface="Segoe UI"/>
              </a:rPr>
              <a:t> Al haber menos receptores, la caída fisiológica normal de ACh por pulso hace que el potencial caiga bajo el umbral de disparo.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0300" y="1695450"/>
            <a:ext cx="5362575" cy="4065270"/>
          </a:xfrm>
          <a:prstGeom prst="roundRect">
            <a:avLst>
              <a:gd name="adj" fmla="val 2811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19850" y="1866900"/>
            <a:ext cx="2828925" cy="266700"/>
          </a:xfrm>
          <a:prstGeom prst="roundRect">
            <a:avLst>
              <a:gd name="adj" fmla="val 21428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200" b="1" i="0" lang="es-ES">
                <a:solidFill>
                  <a:srgbClr val="FFFFFF"/>
                </a:solidFill>
                <a:latin typeface="Segoe UI"/>
              </a:rPr>
              <a:t>CONFIRMACIÓN Y TERAPÉUTICA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19850" y="2228850"/>
            <a:ext cx="4943475" cy="34175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944"/>
              </a:spcAft>
            </a:pPr>
            <a:r>
              <a:rPr sz="2100" b="0" i="0" lang="es-ES">
                <a:solidFill>
                  <a:srgbClr val="E2E8F0"/>
                </a:solidFill>
                <a:latin typeface="Segoe UI"/>
              </a:rPr>
              <a:t>• </a:t>
            </a:r>
            <a:r>
              <a:rPr sz="2100" b="1" i="0" lang="es-ES">
                <a:solidFill>
                  <a:srgbClr val="E2E8F0"/>
                </a:solidFill>
                <a:latin typeface="Segoe UI"/>
              </a:rPr>
              <a:t>EMG 3 Hz:</a:t>
            </a:r>
            <a:r>
              <a:rPr sz="2100" b="0" i="0" lang="es-ES">
                <a:solidFill>
                  <a:srgbClr val="E2E8F0"/>
                </a:solidFill>
                <a:latin typeface="Segoe UI"/>
              </a:rPr>
              <a:t> Caída decremental &gt;10% del PAMC.</a:t>
            </a:r>
          </a:p>
          <a:p>
            <a:pPr algn="l">
              <a:lnSpc>
                <a:spcPct val="110000"/>
              </a:lnSpc>
              <a:spcAft>
                <a:spcPts val="944"/>
              </a:spcAft>
            </a:pPr>
            <a:r>
              <a:rPr sz="2100" b="0" i="0" lang="es-ES">
                <a:solidFill>
                  <a:srgbClr val="E2E8F0"/>
                </a:solidFill>
                <a:latin typeface="Segoe UI"/>
              </a:rPr>
              <a:t>• </a:t>
            </a:r>
            <a:r>
              <a:rPr sz="2100" b="1" i="0" lang="es-ES">
                <a:solidFill>
                  <a:srgbClr val="E2E8F0"/>
                </a:solidFill>
                <a:latin typeface="Segoe UI"/>
              </a:rPr>
              <a:t>Fibra aislada:</a:t>
            </a:r>
            <a:r>
              <a:rPr sz="2100" b="0" i="0" lang="es-ES">
                <a:solidFill>
                  <a:srgbClr val="E2E8F0"/>
                </a:solidFill>
                <a:latin typeface="Segoe UI"/>
              </a:rPr>
              <a:t> Jitter patológicamente aumentado.</a:t>
            </a:r>
          </a:p>
          <a:p>
            <a:pPr algn="l">
              <a:lnSpc>
                <a:spcPct val="110000"/>
              </a:lnSpc>
            </a:pPr>
            <a:r>
              <a:rPr sz="2100" b="0" i="0" lang="es-ES">
                <a:solidFill>
                  <a:srgbClr val="E2E8F0"/>
                </a:solidFill>
                <a:latin typeface="Segoe UI"/>
              </a:rPr>
              <a:t>• </a:t>
            </a:r>
            <a:r>
              <a:rPr sz="2100" b="1" i="0" lang="es-ES">
                <a:solidFill>
                  <a:srgbClr val="E2E8F0"/>
                </a:solidFill>
                <a:latin typeface="Segoe UI"/>
              </a:rPr>
              <a:t>Tratamiento:</a:t>
            </a:r>
            <a:r>
              <a:rPr sz="2100" b="0" i="0" lang="es-ES">
                <a:solidFill>
                  <a:srgbClr val="E2E8F0"/>
                </a:solidFill>
                <a:latin typeface="Segoe UI"/>
              </a:rPr>
              <a:t> Inhibidores de AChE (Piridostigmina) → Prolonga ACh en hendidura.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1375" y="6534150"/>
            <a:ext cx="5715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200" b="0" i="0" lang="es-ES">
                <a:solidFill>
                  <a:srgbClr val="94A3B8"/>
                </a:solidFill>
                <a:latin typeface="Segoe U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9125" y="428625"/>
            <a:ext cx="10953750" cy="533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 i="0" lang="es-ES">
                <a:solidFill>
                  <a:srgbClr val="38BDF8"/>
                </a:solidFill>
                <a:latin typeface="Segoe UI"/>
              </a:rPr>
              <a:t>8. Síntesis Integradora</a:t>
            </a:r>
          </a:p>
        </p:txBody>
      </p:sp>
      <p:sp>
        <p:nvSpPr>
          <p:cNvPr id="3" name="Rectangle 2"/>
          <p:cNvSpPr/>
          <p:nvPr/>
        </p:nvSpPr>
        <p:spPr>
          <a:xfrm>
            <a:off x="619125" y="1000125"/>
            <a:ext cx="10953750" cy="1905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9125" y="1152525"/>
            <a:ext cx="1095375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950" b="0" i="0" lang="es-ES">
                <a:solidFill>
                  <a:srgbClr val="94A3B8"/>
                </a:solidFill>
                <a:latin typeface="Segoe UI"/>
              </a:rPr>
              <a:t>Diagnóstico Diferencial de la Placa Motora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19125" y="1647825"/>
          <a:ext cx="10953750" cy="2941320"/>
        </p:xfrm>
        <a:graphic>
          <a:graphicData uri="http://schemas.openxmlformats.org/drawingml/2006/table">
            <a:tbl>
              <a:tblPr/>
              <a:tblGrid>
                <a:gridCol w="1971675"/>
                <a:gridCol w="2628900"/>
                <a:gridCol w="2847975"/>
                <a:gridCol w="3505200"/>
              </a:tblGrid>
              <a:tr h="462915">
                <a:tc>
                  <a:txBody>
                    <a:bodyPr wrap="square"/>
                    <a:lstStyle/>
                    <a:p>
                      <a:r>
                        <a:rPr sz="1650" b="1" i="0" lang="es-ES">
                          <a:solidFill>
                            <a:srgbClr val="38BDF8"/>
                          </a:solidFill>
                          <a:latin typeface="Segoe UI"/>
                        </a:rPr>
                        <a:t>Patología</a:t>
                      </a:r>
                    </a:p>
                  </a:txBody>
                  <a:tcPr marL="95250" marR="95250" marT="95250" marB="95250" anchor="ctr">
                    <a:solidFill>
                      <a:srgbClr val="1E293B"/>
                    </a:solidFill>
                    <a:lnL w="9525" cap="flat" cmpd="sng" algn="ctr">
                      <a:solidFill>
                        <a:srgbClr val="334155"/>
                      </a:solidFill>
                      <a:prstDash val="solid"/>
                    </a:lnL>
                    <a:lnR w="9525" cap="flat" cmpd="sng" algn="ctr">
                      <a:solidFill>
                        <a:srgbClr val="334155"/>
                      </a:solidFill>
                      <a:prstDash val="soli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650" b="1" i="0" lang="es-ES">
                          <a:solidFill>
                            <a:srgbClr val="38BDF8"/>
                          </a:solidFill>
                          <a:latin typeface="Segoe UI"/>
                        </a:rPr>
                        <a:t>Diana Molecular</a:t>
                      </a:r>
                    </a:p>
                  </a:txBody>
                  <a:tcPr marL="95250" marR="95250" marT="95250" marB="95250" anchor="ctr">
                    <a:solidFill>
                      <a:srgbClr val="1E293B"/>
                    </a:solidFill>
                    <a:lnL w="9525" cap="flat" cmpd="sng" algn="ctr">
                      <a:solidFill>
                        <a:srgbClr val="334155"/>
                      </a:solidFill>
                      <a:prstDash val="solid"/>
                    </a:lnL>
                    <a:lnR w="9525" cap="flat" cmpd="sng" algn="ctr">
                      <a:solidFill>
                        <a:srgbClr val="334155"/>
                      </a:solidFill>
                      <a:prstDash val="soli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650" b="1" i="0" lang="es-ES">
                          <a:solidFill>
                            <a:srgbClr val="38BDF8"/>
                          </a:solidFill>
                          <a:latin typeface="Segoe UI"/>
                        </a:rPr>
                        <a:t>Patrón EMG</a:t>
                      </a:r>
                    </a:p>
                  </a:txBody>
                  <a:tcPr marL="95250" marR="95250" marT="95250" marB="95250" anchor="ctr">
                    <a:solidFill>
                      <a:srgbClr val="1E293B"/>
                    </a:solidFill>
                    <a:lnL w="9525" cap="flat" cmpd="sng" algn="ctr">
                      <a:solidFill>
                        <a:srgbClr val="334155"/>
                      </a:solidFill>
                      <a:prstDash val="solid"/>
                    </a:lnL>
                    <a:lnR w="9525" cap="flat" cmpd="sng" algn="ctr">
                      <a:solidFill>
                        <a:srgbClr val="334155"/>
                      </a:solidFill>
                      <a:prstDash val="soli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650" b="1" i="0" lang="es-ES">
                          <a:solidFill>
                            <a:srgbClr val="38BDF8"/>
                          </a:solidFill>
                          <a:latin typeface="Segoe UI"/>
                        </a:rPr>
                        <a:t>Rasgo Clínico Clave</a:t>
                      </a:r>
                    </a:p>
                  </a:txBody>
                  <a:tcPr marL="95250" marR="95250" marT="95250" marB="95250" anchor="ctr">
                    <a:solidFill>
                      <a:srgbClr val="1E293B"/>
                    </a:solidFill>
                    <a:lnL w="9525" cap="flat" cmpd="sng" algn="ctr">
                      <a:solidFill>
                        <a:srgbClr val="334155"/>
                      </a:solidFill>
                      <a:prstDash val="solid"/>
                    </a:lnL>
                    <a:lnR w="9525" cap="flat" cmpd="sng" algn="ctr">
                      <a:solidFill>
                        <a:srgbClr val="334155"/>
                      </a:solidFill>
                      <a:prstDash val="soli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</a:lnB>
                  </a:tcPr>
                </a:tc>
              </a:tr>
              <a:tr h="735330">
                <a:tc>
                  <a:txBody>
                    <a:bodyPr wrap="square"/>
                    <a:lstStyle/>
                    <a:p>
                      <a:r>
                        <a:rPr sz="1650" b="1" i="0" lang="es-ES">
                          <a:solidFill>
                            <a:srgbClr val="E2E8F0"/>
                          </a:solidFill>
                          <a:latin typeface="Segoe UI"/>
                        </a:rPr>
                        <a:t>Miastenia Gravis</a:t>
                      </a:r>
                    </a:p>
                  </a:txBody>
                  <a:tcPr marL="95250" marR="95250" marT="95250" marB="95250" anchor="ctr">
                    <a:solidFill>
                      <a:srgbClr val="0F172A"/>
                    </a:solidFill>
                    <a:lnL w="9525" cap="flat" cmpd="sng" algn="ctr">
                      <a:solidFill>
                        <a:srgbClr val="334155"/>
                      </a:solidFill>
                      <a:prstDash val="solid"/>
                    </a:lnL>
                    <a:lnR w="9525" cap="flat" cmpd="sng" algn="ctr">
                      <a:solidFill>
                        <a:srgbClr val="334155"/>
                      </a:solidFill>
                      <a:prstDash val="soli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650" b="0" i="0" lang="es-ES">
                          <a:solidFill>
                            <a:srgbClr val="E2E8F0"/>
                          </a:solidFill>
                          <a:latin typeface="Segoe UI"/>
                        </a:rPr>
                        <a:t>Receptor AChR </a:t>
                      </a:r>
                      <a:r>
                        <a:rPr sz="1650" b="0" i="1" lang="es-ES">
                          <a:solidFill>
                            <a:srgbClr val="E2E8F0"/>
                          </a:solidFill>
                          <a:latin typeface="Segoe UI"/>
                        </a:rPr>
                        <a:t>(Postsináptica)</a:t>
                      </a:r>
                    </a:p>
                  </a:txBody>
                  <a:tcPr marL="95250" marR="95250" marT="95250" marB="95250" anchor="ctr">
                    <a:solidFill>
                      <a:srgbClr val="0F172A"/>
                    </a:solidFill>
                    <a:lnL w="9525" cap="flat" cmpd="sng" algn="ctr">
                      <a:solidFill>
                        <a:srgbClr val="334155"/>
                      </a:solidFill>
                      <a:prstDash val="solid"/>
                    </a:lnL>
                    <a:lnR w="9525" cap="flat" cmpd="sng" algn="ctr">
                      <a:solidFill>
                        <a:srgbClr val="334155"/>
                      </a:solidFill>
                      <a:prstDash val="soli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650" b="1" i="0" lang="es-ES">
                          <a:solidFill>
                            <a:srgbClr val="E2E8F0"/>
                          </a:solidFill>
                          <a:latin typeface="Segoe UI"/>
                        </a:rPr>
                        <a:t>Decremento</a:t>
                      </a:r>
                      <a:r>
                        <a:rPr sz="1650" b="0" i="0" lang="es-ES">
                          <a:solidFill>
                            <a:srgbClr val="E2E8F0"/>
                          </a:solidFill>
                          <a:latin typeface="Segoe UI"/>
                        </a:rPr>
                        <a:t> a baja frecuencia (3 Hz)</a:t>
                      </a:r>
                    </a:p>
                  </a:txBody>
                  <a:tcPr marL="95250" marR="95250" marT="95250" marB="95250" anchor="ctr">
                    <a:solidFill>
                      <a:srgbClr val="0F172A"/>
                    </a:solidFill>
                    <a:lnL w="9525" cap="flat" cmpd="sng" algn="ctr">
                      <a:solidFill>
                        <a:srgbClr val="334155"/>
                      </a:solidFill>
                      <a:prstDash val="solid"/>
                    </a:lnL>
                    <a:lnR w="9525" cap="flat" cmpd="sng" algn="ctr">
                      <a:solidFill>
                        <a:srgbClr val="334155"/>
                      </a:solidFill>
                      <a:prstDash val="soli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650" b="0" i="0" lang="es-ES">
                          <a:solidFill>
                            <a:srgbClr val="E2E8F0"/>
                          </a:solidFill>
                          <a:latin typeface="Segoe UI"/>
                        </a:rPr>
                        <a:t>Fatiga ocular/bulbar; empeora con uso continuo</a:t>
                      </a:r>
                    </a:p>
                  </a:txBody>
                  <a:tcPr marL="95250" marR="95250" marT="95250" marB="95250" anchor="ctr">
                    <a:solidFill>
                      <a:srgbClr val="0F172A"/>
                    </a:solidFill>
                    <a:lnL w="9525" cap="flat" cmpd="sng" algn="ctr">
                      <a:solidFill>
                        <a:srgbClr val="334155"/>
                      </a:solidFill>
                      <a:prstDash val="solid"/>
                    </a:lnL>
                    <a:lnR w="9525" cap="flat" cmpd="sng" algn="ctr">
                      <a:solidFill>
                        <a:srgbClr val="334155"/>
                      </a:solidFill>
                      <a:prstDash val="soli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</a:lnB>
                  </a:tcPr>
                </a:tc>
              </a:tr>
              <a:tr h="1007745">
                <a:tc>
                  <a:txBody>
                    <a:bodyPr wrap="square"/>
                    <a:lstStyle/>
                    <a:p>
                      <a:r>
                        <a:rPr sz="1650" b="1" i="0" lang="es-ES">
                          <a:solidFill>
                            <a:srgbClr val="E2E8F0"/>
                          </a:solidFill>
                          <a:latin typeface="Segoe UI"/>
                        </a:rPr>
                        <a:t>Lambert-Eaton</a:t>
                      </a:r>
                    </a:p>
                  </a:txBody>
                  <a:tcPr marL="95250" marR="95250" marT="95250" marB="95250" anchor="ctr">
                    <a:solidFill>
                      <a:srgbClr val="0F172A"/>
                    </a:solidFill>
                    <a:lnL w="9525" cap="flat" cmpd="sng" algn="ctr">
                      <a:solidFill>
                        <a:srgbClr val="334155"/>
                      </a:solidFill>
                      <a:prstDash val="solid"/>
                    </a:lnL>
                    <a:lnR w="9525" cap="flat" cmpd="sng" algn="ctr">
                      <a:solidFill>
                        <a:srgbClr val="334155"/>
                      </a:solidFill>
                      <a:prstDash val="soli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650" b="0" i="0" lang="es-ES">
                          <a:solidFill>
                            <a:srgbClr val="E2E8F0"/>
                          </a:solidFill>
                          <a:latin typeface="Segoe UI"/>
                        </a:rPr>
                        <a:t>Canales Ca2+ P/Q </a:t>
                      </a:r>
                      <a:r>
                        <a:rPr sz="1650" b="0" i="1" lang="es-ES">
                          <a:solidFill>
                            <a:srgbClr val="E2E8F0"/>
                          </a:solidFill>
                          <a:latin typeface="Segoe UI"/>
                        </a:rPr>
                        <a:t>(Presináptica)</a:t>
                      </a:r>
                    </a:p>
                  </a:txBody>
                  <a:tcPr marL="95250" marR="95250" marT="95250" marB="95250" anchor="ctr">
                    <a:solidFill>
                      <a:srgbClr val="0F172A"/>
                    </a:solidFill>
                    <a:lnL w="9525" cap="flat" cmpd="sng" algn="ctr">
                      <a:solidFill>
                        <a:srgbClr val="334155"/>
                      </a:solidFill>
                      <a:prstDash val="solid"/>
                    </a:lnL>
                    <a:lnR w="9525" cap="flat" cmpd="sng" algn="ctr">
                      <a:solidFill>
                        <a:srgbClr val="334155"/>
                      </a:solidFill>
                      <a:prstDash val="soli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650" b="1" i="0" lang="es-ES">
                          <a:solidFill>
                            <a:srgbClr val="E2E8F0"/>
                          </a:solidFill>
                          <a:latin typeface="Segoe UI"/>
                        </a:rPr>
                        <a:t>Incremento (&gt;100%)</a:t>
                      </a:r>
                      <a:r>
                        <a:rPr sz="1650" b="0" i="0" lang="es-ES">
                          <a:solidFill>
                            <a:srgbClr val="E2E8F0"/>
                          </a:solidFill>
                          <a:latin typeface="Segoe UI"/>
                        </a:rPr>
                        <a:t> a alta frecuencia</a:t>
                      </a:r>
                    </a:p>
                  </a:txBody>
                  <a:tcPr marL="95250" marR="95250" marT="95250" marB="95250" anchor="ctr">
                    <a:solidFill>
                      <a:srgbClr val="0F172A"/>
                    </a:solidFill>
                    <a:lnL w="9525" cap="flat" cmpd="sng" algn="ctr">
                      <a:solidFill>
                        <a:srgbClr val="334155"/>
                      </a:solidFill>
                      <a:prstDash val="solid"/>
                    </a:lnL>
                    <a:lnR w="9525" cap="flat" cmpd="sng" algn="ctr">
                      <a:solidFill>
                        <a:srgbClr val="334155"/>
                      </a:solidFill>
                      <a:prstDash val="soli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650" b="0" i="0" lang="es-ES">
                          <a:solidFill>
                            <a:srgbClr val="E2E8F0"/>
                          </a:solidFill>
                          <a:latin typeface="Segoe UI"/>
                        </a:rPr>
                        <a:t>Debilidad proximal; mejora brevemente tras esfuerzo; disautonomía</a:t>
                      </a:r>
                    </a:p>
                  </a:txBody>
                  <a:tcPr marL="95250" marR="95250" marT="95250" marB="95250" anchor="ctr">
                    <a:solidFill>
                      <a:srgbClr val="0F172A"/>
                    </a:solidFill>
                    <a:lnL w="9525" cap="flat" cmpd="sng" algn="ctr">
                      <a:solidFill>
                        <a:srgbClr val="334155"/>
                      </a:solidFill>
                      <a:prstDash val="solid"/>
                    </a:lnL>
                    <a:lnR w="9525" cap="flat" cmpd="sng" algn="ctr">
                      <a:solidFill>
                        <a:srgbClr val="334155"/>
                      </a:solidFill>
                      <a:prstDash val="soli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</a:lnB>
                  </a:tcPr>
                </a:tc>
              </a:tr>
              <a:tr h="735330">
                <a:tc>
                  <a:txBody>
                    <a:bodyPr wrap="square"/>
                    <a:lstStyle/>
                    <a:p>
                      <a:r>
                        <a:rPr sz="1650" b="1" i="0" lang="es-ES">
                          <a:solidFill>
                            <a:srgbClr val="E2E8F0"/>
                          </a:solidFill>
                          <a:latin typeface="Segoe UI"/>
                        </a:rPr>
                        <a:t>Botulismo</a:t>
                      </a:r>
                    </a:p>
                  </a:txBody>
                  <a:tcPr marL="95250" marR="95250" marT="95250" marB="95250" anchor="ctr">
                    <a:solidFill>
                      <a:srgbClr val="0F172A"/>
                    </a:solidFill>
                    <a:lnL w="9525" cap="flat" cmpd="sng" algn="ctr">
                      <a:solidFill>
                        <a:srgbClr val="334155"/>
                      </a:solidFill>
                      <a:prstDash val="solid"/>
                    </a:lnL>
                    <a:lnR w="9525" cap="flat" cmpd="sng" algn="ctr">
                      <a:solidFill>
                        <a:srgbClr val="334155"/>
                      </a:solidFill>
                      <a:prstDash val="soli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650" b="0" i="0" lang="es-ES">
                          <a:solidFill>
                            <a:srgbClr val="E2E8F0"/>
                          </a:solidFill>
                          <a:latin typeface="Segoe UI"/>
                        </a:rPr>
                        <a:t>Proteínas SNARE </a:t>
                      </a:r>
                      <a:r>
                        <a:rPr sz="1650" b="0" i="1" lang="es-ES">
                          <a:solidFill>
                            <a:srgbClr val="E2E8F0"/>
                          </a:solidFill>
                          <a:latin typeface="Segoe UI"/>
                        </a:rPr>
                        <a:t>(Presináptica)</a:t>
                      </a:r>
                    </a:p>
                  </a:txBody>
                  <a:tcPr marL="95250" marR="95250" marT="95250" marB="95250" anchor="ctr">
                    <a:solidFill>
                      <a:srgbClr val="0F172A"/>
                    </a:solidFill>
                    <a:lnL w="9525" cap="flat" cmpd="sng" algn="ctr">
                      <a:solidFill>
                        <a:srgbClr val="334155"/>
                      </a:solidFill>
                      <a:prstDash val="solid"/>
                    </a:lnL>
                    <a:lnR w="9525" cap="flat" cmpd="sng" algn="ctr">
                      <a:solidFill>
                        <a:srgbClr val="334155"/>
                      </a:solidFill>
                      <a:prstDash val="soli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650" b="0" i="0" lang="es-ES">
                          <a:solidFill>
                            <a:srgbClr val="E2E8F0"/>
                          </a:solidFill>
                          <a:latin typeface="Segoe UI"/>
                        </a:rPr>
                        <a:t>PAMC basal muy bajo</a:t>
                      </a:r>
                    </a:p>
                  </a:txBody>
                  <a:tcPr marL="95250" marR="95250" marT="95250" marB="95250" anchor="ctr">
                    <a:solidFill>
                      <a:srgbClr val="0F172A"/>
                    </a:solidFill>
                    <a:lnL w="9525" cap="flat" cmpd="sng" algn="ctr">
                      <a:solidFill>
                        <a:srgbClr val="334155"/>
                      </a:solidFill>
                      <a:prstDash val="solid"/>
                    </a:lnL>
                    <a:lnR w="9525" cap="flat" cmpd="sng" algn="ctr">
                      <a:solidFill>
                        <a:srgbClr val="334155"/>
                      </a:solidFill>
                      <a:prstDash val="soli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650" b="0" i="0" lang="es-ES">
                          <a:solidFill>
                            <a:srgbClr val="E2E8F0"/>
                          </a:solidFill>
                          <a:latin typeface="Segoe UI"/>
                        </a:rPr>
                        <a:t>Parálisis flácida descendente rápida y midriasis arreactiva</a:t>
                      </a:r>
                    </a:p>
                  </a:txBody>
                  <a:tcPr marL="95250" marR="95250" marT="95250" marB="95250" anchor="ctr">
                    <a:solidFill>
                      <a:srgbClr val="0F172A"/>
                    </a:solidFill>
                    <a:lnL w="9525" cap="flat" cmpd="sng" algn="ctr">
                      <a:solidFill>
                        <a:srgbClr val="334155"/>
                      </a:solidFill>
                      <a:prstDash val="solid"/>
                    </a:lnL>
                    <a:lnR w="9525" cap="flat" cmpd="sng" algn="ctr">
                      <a:solidFill>
                        <a:srgbClr val="334155"/>
                      </a:solidFill>
                      <a:prstDash val="soli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1001375" y="6534150"/>
            <a:ext cx="5715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200" b="0" i="0" lang="es-ES">
                <a:solidFill>
                  <a:srgbClr val="94A3B8"/>
                </a:solidFill>
                <a:latin typeface="Segoe UI"/>
              </a:rPr>
              <a:t>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